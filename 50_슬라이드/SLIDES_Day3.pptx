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12_교재_Day3.md; 01_커리큘럼.md; 30_강사가이드.md; 96_슬라이드_기획안.md.
Day 3 표지. 준비물: 어제의 ZEDU##_LIST(선택화면+ALV 조회). 미완성 학생은 R3 시간에 기준본으로 복구하고 시작. 오늘의 결승선: 조회·등록·수정·삭제가 전부 되는 간이 주문 관리 프로그램 ZEDU##_MAIN 완성.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12_교재_Day3.md; 01_커리큘럼.md; 30_강사가이드.md; 96_슬라이드_기획안.md.
오전 4유닛은 전부 오후 TP의 부품. 강제 체크포인트(강사가이드 2-1): U16 30분 인터페이스·48분 테스트 2개 / U19 25분 상태 복사 / TP-2 15·25·35분 TODO 단계. 기준본 전환 문장(2-2): '지금은 개인 평가가 아니라 전체 흐름을 연결하는 실습입니다. 이 단계의 환경·오타 문제는 기준본으로 넘기고, 다음 단계에서 다시 직접 작성하겠습니다.' 제공 후 학생이 번호 치환→활성화→실행은 직접.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R3 출처: 12_교재_Day3 / 30_강사가이드 Day3. 네 가지를 말로 확인: 시스템 필드, 이벤트 순서, 한글 컬럼의 출처(DE 라벨), 상태 N 조회 방법. LIST가 안 도는 학생은 U16 전에 기준본으로 복구.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 &gt; U16. 시간 안전장치: 30분 함수 그룹·인터페이스·활성 / 48분 단독 테스트 2개. 진행: 그룹은 컨테이너 → 인터페이스 탭 먼저 → 소스 → F8 단독 테스트 → 패턴 호출 → F5로 FM 안에. TABLES/CHANGING은 형태만 소개하고 실습을 늘리지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U16; 20_퀴즈집.md &gt; U16; 30_강사가이드.md &gt; U16.
함수 그룹 = FM들을 담는 상자. 예상 질문 — Q. FORM과 FM의 차이? A. FORM은 주로 같은 프로그램 내부 서브루틴, FM은 함수 그룹에 속하며 다른 프로그램에서도 정해진 인터페이스로 호출. Q. 클래스 메서드 대신 왜 FM? A. 표준 API·기존 시스템에서 광범위하게 만나며 인터페이스·예외·호출 개념의 좋은 입문.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U16; 20_퀴즈집.md &gt; U16; 30_강사가이드.md &gt; U16.
인터페이스 탭을 소스보다 먼저 완성하는 것이 진행 순서(강사가이드). 호출자 시점에서는 EXPORTING/IMPORTING 방향이 반대가 된다는 것을 미리 예고만 해 둔다 — 따라치기 2에서 다룸.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U16; 20_퀴즈집.md &gt; U16; 30_강사가이드.md &gt; U16.
30분 체크포인트(강사가이드 2-1): 함수 그룹·FM 인터페이스 생성, FM 활성. 미달 시 인터페이스 캡처/기준본 제공 후 소스와 단독 테스트로 이동. 기준본 전환 문장은 2-2. 자주 막힘: 함수 그룹을 활성화하지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U16; 20_퀴즈집.md &gt; U16; 30_강사가이드.md &gt; U16.
FM 소스의 자동 생성 주석/인터페이스 영역을 잘못 편집하는 것이 자주 막힘 — FUNCTION ~ ENDFUNCTION 안쪽만 수정. 소스 전문은 교재 U16 따라치기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U16; 20_퀴즈집.md &gt; U16; 30_강사가이드.md &gt; U16.
48분 체크포인트(강사가이드 2-1): 정상·고객 오류·제품 오류·수량 오류 중 최소 2개 단독 테스트. 자주 막힘: SE37 테스트에서 수량을 문자처럼 입력.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U16; 20_퀴즈집.md &gt; U16; 30_강사가이드.md &gt; U16.
DEFAULT 3종(C00001/P0000003/3)은 확정 설계 — 실행 즉시 정상 케이스. CASE sy-subrc 분기(0/1/2/3/OTHERS)는 교재 코드로 완성. 디버거: CALL FUNCTION 줄 브레이크포인트 → F5는 FM 안으로, F6은 건너뜀 — 직접 확인시키기.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U16; 20_퀴즈집.md &gt; U16; 30_강사가이드.md &gt; U16.
표는 강사가이드 U16 '자주 막힘' 5가지. F5/F6 차이는 교재 📦 박스 — U05 디버거의 복습 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U16; 20_퀴즈집.md &gt; U16; 30_강사가이드.md &gt; U16.
정답 비노출(부록 A). 빠른 학생은 D16(고객별 주문 건수 FM — COUNT 응용).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 &gt; U17. 진행 팁: 3라운드마다 실행과 SE16N 확인을 끊는다. SQL 문장보다 변경 범위와 트랜잭션을 먼저 읽게 한다. 라운드 2 SELECT 실패 시 안내 후 종료하는 방어 코드를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U17; 20_퀴즈집.md &gt; U17; 30_강사가이드.md &gt; U17.
예상 질문 — Q. MODIFY는 편한데 항상 쓰면 안 되나? A. '있으면 수정, 없으면 등록'이 업무 의도와 맞을 때만. 중복이 오류여야 하는 등록에서는 INSERT가 명확.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U17; 20_퀴즈집.md &gt; U17; 30_강사가이드.md &gt; U17.
예상 질문 — Q. COMMIT을 매 문장 뒤에 하면 안전한가? A. 아니다. 함께 성공·실패해야 하는 업무 단위(LUW)를 끊을 수 있다. 본 과정은 단순화를 위해 메인에서 명시하지만 실무는 LUW를 설계한다(강사가이드 6-5,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U17; 20_퀴즈집.md &gt; U17; 30_강사가이드.md &gt; U17.
라운드 1 실행 → SE16N으로 9000000001 확인까지가 한 단위. 자주 막힘: 1라운드를 다시 실행해 키 중복 subrc=4 — 이미 있다는 정보라고 해석시키기.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U17; 20_퀴즈집.md &gt; U17; 30_강사가이드.md &gt; U17.
방법 A(구조 전체)와 B(SET 필드만)의 차이를 변경 범위로 설명. 자주 막힘: UPDATE WHERE 조건 누락 — 전체 행이 바뀌는 사고. 방어 코드(SELECT 실패 시 MESSAGE 후 RETURN)를 꼭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U17; 20_퀴즈집.md &gt; U17; 30_강사가이드.md &gt; U17.
자주 막힘: COMMIT 전에 프로그램을 중단하고 결과 혼동. MODIFY는 9000000002 신규 생성(INSERT로 동작) 후 라운드 재실행 시 UPDATE로 동작 — 교재 라운드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U17; 20_퀴즈집.md &gt; U17; 30_강사가이드.md &gt; U17.
자주 막힘: 내부 테이블 MODIFY와 DB MODIFY 혼동 / 다른 학생 번호의 테이블을 변경. /o SE16N으로 두 번째 모드 상시 대기 — 오후 TP에서도 같은 리듬.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U17; 20_퀴즈집.md &gt; U17; 30_강사가이드.md &gt; U17.
표는 강사가이드 U17 '자주 막힘' 5가지. WHERE 없는 UPDATE/DELETE는 강사가이드 7-4(반드시 조심할 코드 패턴) 연계.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U17; 20_퀴즈집.md &gt; U17; 30_강사가이드.md &gt; U17.
정답 비노출. TODO 2는 UPDATE SET + sy-dbcnt 조합 확인. TODO 3(ZEDU_DATA_LOAD 초기화)을 건너뛰지 않게 순회 확인 — 오후 TP의 전제.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 &gt; U18. 30분 운영: 8분 S/E/W/I 표시·흐름 / 8분 SE91 / 7분 WITH 자리표시자 / 7분 DISPLAY LIKE + Q18. 강조: 타입은 색깔뿐 아니라 흐름에 영향.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U18; 20_퀴즈집.md &gt; U18; 30_강사가이드.md &gt; U18.
U14에서 본 '선택화면의 E = 화면 유지'가 표의 E 행. 오후 버튼 콜백 안에서의 E는 흐름을 꼬이게 할 수 있음 — 다음다음 슬라이드의 DISPLAY LIKE로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U18; 20_퀴즈집.md &gt; U18; 30_강사가이드.md &gt; U18.
확정 설계: X 수정 차단은 리터럴 메시지이며 별도 메시지 클래스 항목을 만들지 않는다. 예상 질문 — Q. 모든 메시지를 클래스에? A. 제품 코드는 클래스가 유리하나, 이 과정은 차이를 보여주기 위해 섞는다.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U18; 20_퀴즈집.md &gt; U18; 30_강사가이드.md &gt; U18.
강사가이드 강조: TYPE 'S' DISPLAY LIKE 'E' 뒤에는 자동 중단이 없으므로 필요하면 RETURN. 이 차이가 오후 버튼 로직(수정·삭제 방어)의 생명줄 — ZEDU##_U18로 직접 체험(다음 슬라이드).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U18; 20_퀴즈집.md &gt; U18; 30_강사가이드.md &gt; U18.
메시지 전문 10건은 교재 U18 표(001~003 성공, 010~013 검증, 020~022 업무 규칙). ZEDU##_U18에서 s012 DISPLAY LIKE 'E' vs e012의 아랫줄 실행 여부 차이를 직접 관찰 — 오후 버튼 로직의 생명줄.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U18; 20_퀴즈집.md &gt; U18; 30_강사가이드.md &gt; U18.
정답 비노출. WITH의 &amp;1 자리 채움과 타입별 표시 차이 확인이 목적. 빠른 학생은 D18.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12_교재_Day3.md; 01_커리큘럼.md; 30_강사가이드.md; 96_슬라이드_기획안.md.
강사 체크(Day 3 오후 시작 전): ZEDU_DATA_LOAD 초기화 상태(20건), 강사용 ZEDU_MAIN_DEMO 동작, 기준본 배포 경로. Q17 TODO 3 리셋을 건너뛴 학생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 &gt; U19. 최고 위험 구간 — 25분에 상태 복사·활성 안 된 학생은 즉시 기준본 전환(권한·시스템 차이를 수업 중 추적하지 않는다). 배분: 5분 PF-STATUS 개념 / 10분 콜백 2줄 / 10분 FORM 2개 / 15분 SE41 복사·버튼 3개 / 10분 선택 행+Q19.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U19; 20_퀴즈집.md &gt; U19; 30_강사가이드.md &gt; U19.
기능 코드는 계약(강사가이드 강조). tabindex=0(행 밖 클릭)·READ 실패 처리를 미리 언급 — Q19와 TP에서 반복.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U19; 20_퀴즈집.md &gt; U19; 30_강사가이드.md &gt; U19.
Text elements 체크를 빼먹으면 선택 텍스트가 사라짐. 콜백 문자열과 FORM 이름 불일치가 자주 막힘. 이 복사 체인(LIST→U19→MAIN)은 재타이핑·오타를 줄이는 확정 설계.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U19; 20_퀴즈집.md &gt; U19; 30_강사가이드.md &gt; U19.
FC_ADD·FC_DEL은 더미 메시지로 두고 FC_EDIT만 READ 패턴 시연(전문은 교재). 기능 코드는 대문자 — CASE의 WHEN 철자 불일치가 '기능 코드가 처리되지 않음' 경고의 원인.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U19; 20_퀴즈집.md &gt; U19; 30_강사가이드.md &gt; U19.
표준 상태를 복사하는 이유: 뒤로/종료/정렬/필터 등 표준 ALV 기능을 유지한 채 교육용 버튼만 추가. 25분 체크포인트 — 복사 실패자는 MAIN 상태가 포함된 기준 프로그램으로 즉시 전환, 권한·시스템 차이는 수업 중 추적하지 않음(강사가이드).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U19; 20_퀴즈집.md &gt; U19; 30_강사가이드.md &gt; U19.
행 위/밖에서 [수정]을 눌러 tabindex 차이를 직접 관찰시키는 것이 포인트 — TP-3·4의 방어 로직으로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U19; 20_퀴즈집.md &gt; U19; 30_강사가이드.md &gt; U19.
표는 교재 ⚠️ + 강사가이드 U19 '자주 막힘'. 기준본 전환 문장(2-2)으로 심리 부담을 낮춘다.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U19; 20_퀴즈집.md &gt; U19; 30_강사가이드.md &gt; U19.
정답 비노출. 숫자→문자 변환(CONDENSE) 후 CONCATENATE는 Day 2 확정 패턴의 재적용. 빠른 학생은 D19(선택 행 금액 — 두 값 연결).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12_교재_Day3.md; 01_커리큘럼.md; 30_강사가이드.md; 96_슬라이드_기획안.md.
TP-0에서 강사 완성본(ZEDU_MAIN_DEMO)으로 정상 흐름만 5분 시연: 기본 조회 20건 → 신규 등록 → 수량 수정·C 전환 → C/X 수정 거부 → N 삭제·확인 팝업. 코드를 설명하지 말고 3시간 뒤 만들 화면과 업무 규칙만 확인(강사가이드 TP-0).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TP-0; 20_퀴즈집.md &gt; TP-0; 30_강사가이드.md &gt; TP-0.
업무 규칙 3개(C 수정 불가·N/C만 입력·N만 삭제)를 시연 중 말로 강조. 취소 기능은 기본 과정에 없음(확정 설계) — 확장 1로만.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TP-1; 20_퀴즈집.md &gt; TP-1; 30_강사가이드.md &gt; TP-1.
체크포인트(강사가이드 TP-1): 10분 MAIN 실행 / 20분 기본 조회 20건 / 30분 버튼 표시·클릭 메시지. GUI Status 누락이 최다 사고 — 복사 직후 실행해서 버튼 3개부터 확인시키기.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TP-1; 20_퀴즈집.md &gt; TP-1; 30_강사가이드.md &gt; TP-1.
Q1: INITIALIZATION → 선택화면 → START-OF-SELECTION → get_data → show_alv. Q2: FORM user_command의 WHEN 'FC_EDIT'. Q3: 커서가 데이터 행 밖일 때. — 학생이 말로 답하게 하고 슬라이드에는 답을 띄우지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TP-1; 20_퀴즈집.md &gt; TP-1; 30_강사가이드.md &gt; TP-1.
공통 후처리(재조회+refresh)를 CASE 밖에 두는 이유를 설명. 이 2줄이 TP-2 완성 판정('목록에 새 주문')의 전제.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TP-2; 20_퀴즈집.md &gt; TP-2; 30_강사가이드.md &gt; TP-2.
고위험 TODO 분할(강사가이드 TP-2): A 15분 / B 25분 / C 35분. 각 마감 미달 시 체크포인트 코드 제공. 35분 이후 남은 15분은 반드시 통합 테스트 4종.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TP-2; 20_퀴즈집.md &gt; TP-2; 30_강사가이드.md &gt; TP-2.
전문은 교재 TP-2 (2). 팝업 값은 문자 필드(sval-value)라 수량 대입 시 변환 주의(자주 막힘). lv_rc = 'A'는 사용자가 팝업을 취소한 경우.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TP-2; 20_퀴즈집.md &gt; TP-2; 30_강사가이드.md &gt; TP-2.
자주 막힘: WHEN OTHERS를 s012로 써서 수량 오류로 오진 — OTHERS는 리터럴 '검증 중 오류'. 팝업 입력과 오류 메시지만 시험(아직 INSERT 없음).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TP-2; 20_퀴즈집.md &gt; TP-2; 30_강사가이드.md &gt; TP-2.
MAX+1 동시성 이야기는 강사가이드 8-1 — 교육 단순화 설계임을 짧게 언급. INSERT 성공/실패의 COMMIT/ROLLBACK 짝은 U17 라운드의 재적용.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TP-2; 20_퀴즈집.md &gt; TP-2; 30_강사가이드.md &gt; TP-2.
35분 전환 규칙(강사가이드): 미완료자는 A/B/C 완성 조각을 붙이고, 남은 15분은 반드시 통합 테스트 4종. 정상 등록 1건 + 오류 1건이 '절대 줄이지 않을 구간'.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TP-2; 20_퀴즈집.md &gt; TP-2; 30_강사가이드.md &gt; TP-2.
표는 강사가이드 TP-2 '자주 막힘' 4가지. TP-3·4는 TP-2에서 익힌 패턴(커서 행 READ + 규칙 차단 + 팝업 + DB 변경 + 메시지)의 변주임을 예고해 심리 부담을 낮춘다.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TP-3; 20_퀴즈집.md &gt; TP-3; 30_강사가이드.md &gt; TP-3.
업무 규칙을 먼저 시험(강사가이드 TP-3): N만 팝업 진입, C는 s020, X는 리터럴, 상태 N/C만, 수량 1 이상. 체크포인트: 10분 커서 행 / 18분 C·X 차단 / 28분 팝업·검증 / 38분 UPDATE / 마지막 7분 시나리오.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TP-3; 20_퀴즈집.md &gt; TP-3; 30_강사가이드.md &gt; TP-3.
확정 설계: X 차단은 리터럴이며 별도 메시지 클래스 항목을 만들지 않는다. TODO A는 U19 패턴 재적용 — 여기서 막히면 U19 콜백 FORM을 다시 보게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TP-3; 20_퀴즈집.md &gt; TP-3; 30_강사가이드.md &gt; TP-3.
팝업 전문은 교재 TP-3 (2). 현재 값을 미리 채워 보여주는 UX(value 세팅)가 포인트. TODO C의 s013은 WITH lv_status로 잘못 입력값을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TP-3; 20_퀴즈집.md &gt; TP-3; 30_강사가이드.md &gt; TP-3.
판정 5가지는 교재 TP-3 완성 판정. 마지막 7분: N 수정 → C 전환 → C 재수정 거부 → X 수정 거부 순서로 통으로 시험(강사가이드).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TP-3; 20_퀴즈집.md &gt; TP-3; 30_강사가이드.md &gt; TP-3.
강사가이드 TP-3 권장 체크포인트. C/X 수정 거부 경험은 '절대 줄이지 않을 구간'(2-3) — 업무 규칙 검증 경험이 이 과정의 핵심 가치.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TP-4; 20_퀴즈집.md &gt; TP-4; 30_강사가이드.md &gt; TP-4.
핵심 순서(강사가이드 TP-4): 행 선택 → N 검사 → 확인 팝업 → 응답 1 확인 → DELETE → COMMIT/ROLLBACK → 메시지 → 갱신. C/X 검사 전에 팝업부터 띄우는 실수가 가장 잦다.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TP-4; 20_퀴즈집.md &gt; TP-4; 30_강사가이드.md &gt; TP-4.
전문은 교재 TP-4 (2) — display_cancel_button = ' '와 sy-subrc 확인 포함. lv_text는 CONCATENATE로 주문번호를 넣어 조립(주어진 코드).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TP-4; 20_퀴즈집.md &gt; TP-4; 30_강사가이드.md &gt; TP-4.
표는 강사가이드 TP-4 '자주 막힘' 4가지. WHERE 없는 DELETE 경고는 U17과 수미상관.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TP-4; 20_퀴즈집.md &gt; TP-4; 30_강사가이드.md &gt; TP-4.
판정(강사가이드 TP-4): N+예 삭제 / N+아니오 유지 / C·X는 팝업 전 규칙 메시지 / 빈 행 022. 여기까지 되면 최종 시나리오로.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TP-5; 20_퀴즈집.md &gt; TP-5; 30_강사가이드.md &gt; TP-5.
기본 통합 시나리오를 통과하지 않은 학생에게 확장 과제를 주지 않는다(강사가이드 TP-5). 먼저 메시지·정렬·선택 텍스트·오류 흐름을 정리.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12_교재_Day3.md; 01_커리큘럼.md; 30_강사가이드.md; 96_슬라이드_기획안.md.
교재 TP-5의 축하 멘트. '3일 동안 문법을 다 배웠다'가 아니라 '업무 프로그램의 전체 연결 구조를 한 번 완주했다'로 정리(강사가이드 랩업).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TP-5; 20_퀴즈집.md &gt; TP-5; 30_강사가이드.md &gt; TP-5.
확장 4·5는 출력 스트럭처에 기술 필드를 추가하므로 강사가 기준본에서 먼저 시험한 경우에만 수업 중 권한다(강사가이드 TP-5). 권장 순서 1→6.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수료 랩업; 30_강사가이드.md &gt; 수료 랩업.
6문항은 강사가이드 수료 랩업 — 학생에게 순서대로 던진다. 답: ① SE11 도메인(고정값) ② ZEDU_CUST ③ FM ZEDU##_ORDER_CHECK ④ user_command ⑤ COMMIT WORK ⑥ BAPI(표준 함수). 슬라이드에 답을 띄우지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 &gt; 수료 랩업; 30_강사가이드.md &gt; 수료 랩업.
로드맵은 교재 수료 랩업 + 강사가이드 11-4. 마지막 10분에 OOP → OO ALV/SALV → CDS → RAP 경로를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12_교재_Day3.md; 01_커리큘럼.md; 30_강사가이드.md; 96_슬라이드_기획안.md.
교재 마지막 문장: '오늘 완성한 ZEDU##_MAIN을 지우지 마세요. 여러분의 첫 포트폴리오입니다.' 수고 인사와 함께 과정 종료.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2881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ABAP 기초교육 · Day 3 — FM · CRUD · 이벤트 · Toy Project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ABAP 3일 기초교육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모듈화 · DB 변경 · 이벤트 — 그리고 Toy Project 완성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Module · CRUD · MESSAGE · PF-STATUS · ZEDU##_MAIN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9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일시 ____________     강사 ____________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인트로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지도 · 오늘 오후에 완성합니다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65836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37490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유닛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09:00~09:15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복습 퀴즈 + ZEDU##_LIST 점검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09:15~10:15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Function Module — 검증 함수 만들기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10:30~11:30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U17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CRUD — INSERT·UPDATE·DELETE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11:30~12:00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U18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MESSAGE와 메시지 클래스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13:00~13:50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U19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PF-STATUS와 버튼 이벤트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14:00~17:30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TP-0~5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Toy Project — ZEDU##_MAIN 완성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17:30~18:00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랩업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점검 · 수료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097280"/>
            <a:ext cx="4297680" cy="2468880"/>
          </a:xfrm>
          <a:prstGeom prst="roundRect">
            <a:avLst>
              <a:gd name="adj" fmla="val 3333"/>
            </a:avLst>
          </a:prstGeom>
          <a:solidFill>
            <a:srgbClr val="FDF3E3"/>
          </a:solidFill>
          <a:ln/>
        </p:spPr>
      </p:sp>
      <p:sp>
        <p:nvSpPr>
          <p:cNvPr id="8" name="Text 5"/>
          <p:cNvSpPr/>
          <p:nvPr/>
        </p:nvSpPr>
        <p:spPr>
          <a:xfrm>
            <a:off x="7626096" y="1225296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결승선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626096" y="1572768"/>
            <a:ext cx="385876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ZEDU##_MAIN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+ 등록 + 수정 + 삭제가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되는 간이 주문 관리 프로그램.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= 부품 만들기 (FM·CRUD·메시지·버튼)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= 3시간 반 동안 조립!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406640" y="3794760"/>
            <a:ext cx="4297680" cy="457200"/>
          </a:xfrm>
          <a:prstGeom prst="roundRect">
            <a:avLst>
              <a:gd name="adj" fmla="val 20000"/>
            </a:avLst>
          </a:prstGeom>
          <a:solidFill>
            <a:srgbClr val="DDE7F8"/>
          </a:solidFill>
          <a:ln/>
        </p:spPr>
      </p:sp>
      <p:sp>
        <p:nvSpPr>
          <p:cNvPr id="11" name="Text 8"/>
          <p:cNvSpPr/>
          <p:nvPr/>
        </p:nvSpPr>
        <p:spPr>
          <a:xfrm>
            <a:off x="7607808" y="3794760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준비물: 어제의 ZEDU##_LIST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475488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안전장치: U16 30/48분 · U19 25분 · TP-2 15/25/35분 — 해당 슬라이드의 ⏱ 배너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미달 시 기준본 전환 — 개인 평가가 아니라 전체 흐름을 연결하는 실습입니다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복습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복습 퀴즈 R3 — 어제를 확인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퀴즈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7315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 SELECT ... INTO TABLE 후 조회 결과가 없으면 sy-subrc는?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 리포트 이벤트를 실행 순서대로 나열하면?</a:t>
            </a:r>
            <a:endParaRPr lang="en-US" sz="1500" dirty="0"/>
          </a:p>
          <a:p>
            <a:pPr lvl="1" marL="304800" indent="-152400">
              <a:spcAft>
                <a:spcPts val="500"/>
              </a:spcAft>
              <a:buSzPct val="100000"/>
              <a:buChar char="–"/>
            </a:pPr>
            <a:r>
              <a:rPr lang="en-US" sz="13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(INITIALIZATION / START-OF-SELECTION / AT SELECTION-SCREEN)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 ALV 컬럼 제목이 자동으로 한글로 나온 이유는?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4)  (실기) ZEDU##_LIST를 실행해 신규(N) 주문만 조회해보세요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234440"/>
            <a:ext cx="4069080" cy="2331720"/>
          </a:xfrm>
          <a:prstGeom prst="roundRect">
            <a:avLst>
              <a:gd name="adj" fmla="val 3529"/>
            </a:avLst>
          </a:prstGeom>
          <a:solidFill>
            <a:srgbClr val="EEF3FB"/>
          </a:solidFill>
          <a:ln/>
        </p:spPr>
      </p:sp>
      <p:sp>
        <p:nvSpPr>
          <p:cNvPr id="8" name="Text 6"/>
          <p:cNvSpPr/>
          <p:nvPr/>
        </p:nvSpPr>
        <p:spPr>
          <a:xfrm>
            <a:off x="7854696" y="1362456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부록 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54696" y="1709928"/>
            <a:ext cx="3630168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 확인 — "왜"를 설명하게 합니다.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 풀이 → 5분은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ZEDU##_LIST 동작 점검에 사용.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420624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420624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ZEDU##_LIST 실행·ALV 표시가 안 되는 학생은 U16 시작 전 기준본으로 복구 (오늘 오후 전체의 전제)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6420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09:15 ~ 10:15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Module — 나만의 공용 함수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그룹과 Function Module(FM)을 만들 수 있다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IMPORT/EXPORT/EXCEPTIONS를 정의하고, 호출 측에서 예외를 처리할 수 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시간이 끝나면 할 수 있는 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232C6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49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만드는 프로그램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ZEDU##_FG · ZEDU##_U16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 = 시스템 어디서든 호출하는 공용 함수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쓴 REUSE_ALV_GRID_DISPLAY도, 오늘 쓸 팝업도 전부 누군가 만들어 둔 FM입니다. 오늘은 우리가 만드는 쪽이 됩니다.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3017520" cy="777240"/>
          </a:xfrm>
          <a:prstGeom prst="roundRect">
            <a:avLst>
              <a:gd name="adj" fmla="val 10588"/>
            </a:avLst>
          </a:prstGeom>
          <a:solidFill>
            <a:srgbClr val="EEF3FB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1819656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오후 — 등록 팝업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3017520" cy="777240"/>
          </a:xfrm>
          <a:prstGeom prst="roundRect">
            <a:avLst>
              <a:gd name="adj" fmla="val 10588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2734056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프로그램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520440"/>
            <a:ext cx="3017520" cy="777240"/>
          </a:xfrm>
          <a:prstGeom prst="roundRect">
            <a:avLst>
              <a:gd name="adj" fmla="val 10588"/>
            </a:avLst>
          </a:prstGeom>
          <a:solidFill>
            <a:srgbClr val="EEF3FB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3648456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(나중엔) 인터페이스·배치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6616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6616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206240" y="1600200"/>
            <a:ext cx="7498080" cy="2788920"/>
          </a:xfrm>
          <a:prstGeom prst="roundRect">
            <a:avLst>
              <a:gd name="adj" fmla="val 3279"/>
            </a:avLst>
          </a:prstGeom>
          <a:solidFill>
            <a:srgbClr val="F7F9FD"/>
          </a:solidFill>
          <a:ln w="12700">
            <a:solidFill>
              <a:srgbClr val="9FB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17556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그룹 ZEDU##_FG — FM들을 담는 상자 (FM은 반드시 그룹 안에)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194560"/>
            <a:ext cx="658368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3774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  ZEDU##_ORDER_CHECK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입력값 검증 — 정해진 인터페이스로 어디서든 CALL FUNCTION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37490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REUSE_ALV_GRID_DISPLAY · POPUP_GET_VALUES 도 전부 이런 FM입니다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70916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470916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FM으로? "주문 입력값 검증"은 등록 팝업에서도, 나중엔 인터페이스에서도 씀 → 한 곳에 두고 재사용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 인터페이스 — 받는 것 · 주는 것 · 실패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2014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468880"/>
                <a:gridCol w="62636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 (FM 입장)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FM ZEDU##_ORDER_CHECK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IMPORTING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받는 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IV_CUST_ID · IV_PROD_ID · IV_QUANTITY (3개)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EXPORTING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주는 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EV_PRICE — 검증 통과 시 단가 반환 (1개)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TABLES · CHANGING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(형태만 소개)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오늘은 쓰지 않습니다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EXCEPTIONS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실패를 알리는 이름들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INVALID_CUST · INVALID_PROD · INVALID_QTY (3개)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069080"/>
            <a:ext cx="11201400" cy="1051560"/>
          </a:xfrm>
          <a:prstGeom prst="roundRect">
            <a:avLst>
              <a:gd name="adj" fmla="val 7826"/>
            </a:avLst>
          </a:prstGeom>
          <a:solidFill>
            <a:srgbClr val="EEF3FB"/>
          </a:solidFill>
          <a:ln/>
        </p:spPr>
      </p:sp>
      <p:sp>
        <p:nvSpPr>
          <p:cNvPr id="8" name="Text 5"/>
          <p:cNvSpPr/>
          <p:nvPr/>
        </p:nvSpPr>
        <p:spPr>
          <a:xfrm>
            <a:off x="722376" y="4197096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예외는 "번호"로 도착합니다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22376" y="4544568"/>
            <a:ext cx="10762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FM이 RAISE로 예외를 올리면, 호출한 쪽에서는 예외가 번호로 떨어짐 → sy-subrc로 분기합니다. (잠시 후 호출부에서 직접 확인)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① — SE37에서 그룹·FM 만들기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024128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 시작 30분: 함수 그룹 + FM 인터페이스(예외까지) + 활성 — 미달 시 기준본 전환 후 테스트로 이동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SE37 → Goto → Function Groups → Create Group: ZEDU##_FG → Local Object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SE37 초기화면: ZEDU##_ORDER_CHECK → [Create] → 그룹 ZEDU##_FG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Import / Export / Exceptions 탭을 오른쪽 표대로 입력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저장 → 활성화 (그룹과 FM 모두!)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691640"/>
          <a:ext cx="50292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920240"/>
                <a:gridCol w="1920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 / 설명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Import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IV_CUST_ID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ZEDU_CUSTID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Import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IV_PROD_ID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ZEDU_PRODID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Import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IV_QUANTITY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ZEDU_QTY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Export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EV_PRICE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ZEDU_PRICE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Exceptions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INVALID_CUST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Exceptions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INVALID_PROD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Exceptions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INVALID_QTY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 오류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4892040"/>
            <a:ext cx="5943600" cy="457200"/>
          </a:xfrm>
          <a:prstGeom prst="roundRect">
            <a:avLst>
              <a:gd name="adj" fmla="val 20000"/>
            </a:avLst>
          </a:prstGeom>
          <a:solidFill>
            <a:srgbClr val="DDE7F8"/>
          </a:solidFill>
          <a:ln/>
        </p:spPr>
      </p:sp>
      <p:sp>
        <p:nvSpPr>
          <p:cNvPr id="11" name="Text 8"/>
          <p:cNvSpPr/>
          <p:nvPr/>
        </p:nvSpPr>
        <p:spPr>
          <a:xfrm>
            <a:off x="704088" y="4892040"/>
            <a:ext cx="5541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쓰던 공용 DE를 그대로 참조 — DDIC 재사용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① — 검증 로직: RAISE로 예외 올리기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7315200" cy="3931920"/>
          </a:xfrm>
          <a:prstGeom prst="roundRect">
            <a:avLst>
              <a:gd name="adj" fmla="val 1628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code 탭 — 검증 3단계 (일부)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6858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1) 고객 존재 확인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SINGLE cust_id FROM zedu_cust INTO lv_cust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cust_id = iv_cust_id.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sy-subrc &lt;&gt; 0.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invalid_cust.     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예외를 발생시키고 즉시 복귀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ENDIF.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2) 제품 존재 확인 + 단가 반환 (ev_price로 SELECT — 같은 패턴)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3) 수량 검증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iv_quantity &lt;= 0.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invalid_qty.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ENDIF.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01000" y="1188720"/>
            <a:ext cx="3703320" cy="3931920"/>
          </a:xfrm>
          <a:prstGeom prst="roundRect">
            <a:avLst>
              <a:gd name="adj" fmla="val 2222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0456" y="1316736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RAISE의 의미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0456" y="1664208"/>
            <a:ext cx="3264408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이름을 올리고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자리에서 FM 종료.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호출자에게는 번호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(sy-subrc)로 도착합니다.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후 저장 → 활성화.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2)는 1)과 같은 패턴 —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zedu_prod에서 price를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ev_price로 SELECT.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F8 단독 테스트 — FM의 강력한 장점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없이 FM만 바로 실험 — SE37에서 F8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6400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 결과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C00001 / P0000003 / 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EV_PRICE = 45000.00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C99999 / P0000003 / 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INVALID_CUST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C00001 / P0000003 / 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INVALID_QTY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3657600"/>
            <a:ext cx="64008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704088" y="3657600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 시작 48분: 위 3케이스 중 최소 2개 통과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4343400"/>
            <a:ext cx="6400800" cy="1005840"/>
          </a:xfrm>
          <a:prstGeom prst="roundRect">
            <a:avLst>
              <a:gd name="adj" fmla="val 8182"/>
            </a:avLst>
          </a:prstGeom>
          <a:solidFill>
            <a:srgbClr val="EEF3FB"/>
          </a:solidFill>
          <a:ln/>
        </p:spPr>
      </p:sp>
      <p:sp>
        <p:nvSpPr>
          <p:cNvPr id="11" name="Text 8"/>
          <p:cNvSpPr/>
          <p:nvPr/>
        </p:nvSpPr>
        <p:spPr>
          <a:xfrm>
            <a:off x="722376" y="4471416"/>
            <a:ext cx="596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미달 시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22376" y="4818888"/>
            <a:ext cx="5961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프로그램 디버깅은 시연 중심으로 축소하고 U17로 — 오후 TP에는 지장 없게.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269480" y="1188720"/>
            <a:ext cx="4434840" cy="4160520"/>
          </a:xfrm>
          <a:prstGeom prst="roundRect">
            <a:avLst>
              <a:gd name="adj" fmla="val 1758"/>
            </a:avLst>
          </a:prstGeom>
          <a:solidFill>
            <a:srgbClr val="F3F6FB"/>
          </a:solidFill>
          <a:ln w="12700">
            <a:solidFill>
              <a:srgbClr val="9FB0D0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7452360" y="1188720"/>
            <a:ext cx="4069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D3-01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SE37 단독 테스트(F8) —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C99999 입력 → 예외 INVALID_CUST 화면</a:t>
            </a:r>
            <a:endParaRPr lang="en-US" sz="13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전 자리표시자 · 50_슬라이드/스크린샷_캡처목록.md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② — 프로그램에서 호출 (ZEDU##_U16)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7315200" cy="4160520"/>
          </a:xfrm>
          <a:prstGeom prst="roundRect">
            <a:avLst>
              <a:gd name="adj" fmla="val 1538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[Pattern] 버튼(Ctrl+F6)이 골격을 자동 생성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68580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PARAMETERS: p_cust TYPE zedu_custid DEFAULT 'C00001',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p_prod TYPE zedu_prodid DEFAULT 'P0000003',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p_qty  TYPE zedu_qty    DEFAULT 3.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FUNCTION 'ZEDU##_ORDER_CHECK'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EXPORTING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iv_cust_id   = p_cust        </a:t>
            </a:r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내가 '주는' 값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iv_prod_id   = p_prod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iv_quantity  = p_qty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IMPORTING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ev_price     = gv_price      </a:t>
            </a:r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내가 '받는' 값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EXCEPTIONS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invalid_cust = 1             </a:t>
            </a:r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예외 -&gt; 번호 매핑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invalid_prod = 2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invalid_qty  = 3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OTHERS       = 4.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01000" y="1188720"/>
            <a:ext cx="3703320" cy="2377440"/>
          </a:xfrm>
          <a:prstGeom prst="roundRect">
            <a:avLst>
              <a:gd name="adj" fmla="val 3462"/>
            </a:avLst>
          </a:prstGeom>
          <a:solidFill>
            <a:srgbClr val="FDF3E3"/>
          </a:solidFill>
          <a:ln/>
        </p:spPr>
      </p:sp>
      <p:sp>
        <p:nvSpPr>
          <p:cNvPr id="10" name="Text 8"/>
          <p:cNvSpPr/>
          <p:nvPr/>
        </p:nvSpPr>
        <p:spPr>
          <a:xfrm>
            <a:off x="8220456" y="1316736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호출자 시점!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0456" y="1664208"/>
            <a:ext cx="326440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호출측 EXPORTING /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IMPORTING은 FM 정의와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 방향.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"내가 주는 것 EXPORTING,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받는 것 IMPORTING"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항상 호출자 시점!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01000" y="3749040"/>
            <a:ext cx="3703320" cy="1600200"/>
          </a:xfrm>
          <a:prstGeom prst="roundRect">
            <a:avLst>
              <a:gd name="adj" fmla="val 5143"/>
            </a:avLst>
          </a:prstGeom>
          <a:solidFill>
            <a:srgbClr val="EEF3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0456" y="3877056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DEFAULT 3종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0456" y="4224528"/>
            <a:ext cx="32644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실행하면 바로 정상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케이스가 도는 기본값.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C99999·수량 0으로 바꿔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예외도 관찰.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553212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DDE7F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553212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뒤에는 CASE sy-subrc — WHEN 0 성공 / 1·2·3 예외별 메시지 / OTHERS (교재 U16 따라치기 2)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자주 막힙니다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점검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73152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0233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/ 해결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FM이 활성인데 호출이 안 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함수 그룹도 활성화했는지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예외가 OTHERS(4)로만 떨어짐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이름과 호출부 철자가 같은지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활성화 오류 — 소스가 깨짐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생성 주석·인터페이스 영역을 편집하지 않기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F8 테스트에서 수량 오류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수량을 문자처럼 입력하지 않았는지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OTHERS를 수량 오류로 오진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3(INVALID_QTY)과 4(OTHERS)는 다른 번호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092440" y="1234440"/>
            <a:ext cx="3611880" cy="2834640"/>
          </a:xfrm>
          <a:prstGeom prst="roundRect">
            <a:avLst>
              <a:gd name="adj" fmla="val 2903"/>
            </a:avLst>
          </a:prstGeom>
          <a:solidFill>
            <a:srgbClr val="EEF3FB"/>
          </a:solidFill>
          <a:ln/>
        </p:spPr>
      </p:sp>
      <p:sp>
        <p:nvSpPr>
          <p:cNvPr id="8" name="Text 5"/>
          <p:cNvSpPr/>
          <p:nvPr/>
        </p:nvSpPr>
        <p:spPr>
          <a:xfrm>
            <a:off x="8311896" y="136245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디버거 F5 vs F6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311896" y="1709928"/>
            <a:ext cx="317296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CALL FUNCTION 줄에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브레이크포인트를 걸고 —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F5 = FM 안으로 들어감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F6 = FM을 건너뜀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확인해보세요.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Q16 — 고객명 조회 FM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퀴즈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ZEDU##_GET_CUSTNAME</a:t>
            </a:r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을 만드세요 (같은 그룹 ZEDU##_FG에)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7223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2120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인터페이스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IMPORTING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IV_CUST_ID  TYPE ZEDU_CUSTID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EXPORTING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EV_CUST_NAME  TYPE ZEDU_CUSTNAME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EXCEPTIONS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NOT_FOUND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42900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로직: 고객명을 조회해 반환, 없으면 NOT_FOUND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SE37 F8로 세 케이스(정상 / 없는 고객 / 빈값) 테스트까지가 과제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092440" y="1645920"/>
            <a:ext cx="3611880" cy="2834640"/>
          </a:xfrm>
          <a:prstGeom prst="roundRect">
            <a:avLst>
              <a:gd name="adj" fmla="val 2903"/>
            </a:avLst>
          </a:prstGeom>
          <a:solidFill>
            <a:srgbClr val="FDF3E3"/>
          </a:solidFill>
          <a:ln/>
        </p:spPr>
      </p:sp>
      <p:sp>
        <p:nvSpPr>
          <p:cNvPr id="10" name="Text 7"/>
          <p:cNvSpPr/>
          <p:nvPr/>
        </p:nvSpPr>
        <p:spPr>
          <a:xfrm>
            <a:off x="8311896" y="177393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풀었다면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311896" y="2121408"/>
            <a:ext cx="317296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퀴즈집 D16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(고객별 주문 건수 FM)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어려웠다면 E16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부록 A —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보지 않기!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470916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470916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오전에 만든 ORDER_CHECK와 같은 패턴 — SELECT SINGLE + sy-subrc + RAISE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6420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10:30 ~ 11:30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CRUD — INSERT·UPDATE·MODIFY·DELETE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SQL로 DB에 쓰고(INSERT), 고치고(UPDATE/MODIFY), 지울(DELETE) 수 있다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COMMIT/ROLLBACK의 의미를 알고, 변경 후 SE16N으로 확인하는 습관을 들인다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시간이 끝나면 할 수 있는 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232C6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49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만드는 프로그램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ZEDU##_U17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DB를 바꾸는 다섯 문장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20140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3657600"/>
                <a:gridCol w="2697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시 (sy-subrc≠0)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 테이블 FROM 구조.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행 추가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 중복이면 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 테이블 FROM 구조.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키로 찾아 전체 갱신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 없으면 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 테이블 SET 필드=값 WHERE ...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 행들의 특정 필드만 갱신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 0건이면 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MODIFY 테이블 FROM 구조.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있으면 UPDATE, 없으면 INSERT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FROM 테이블 WHERE ...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 행 삭제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 0건이면 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0624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EEF3FB"/>
          </a:solidFill>
          <a:ln/>
        </p:spPr>
      </p:sp>
      <p:sp>
        <p:nvSpPr>
          <p:cNvPr id="8" name="Text 5"/>
          <p:cNvSpPr/>
          <p:nvPr/>
        </p:nvSpPr>
        <p:spPr>
          <a:xfrm>
            <a:off x="722376" y="4334256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sy-dbcnt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22376" y="4681728"/>
            <a:ext cx="495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방금 처리된 행 수. UPDATE SET·DELETE의 결과 확인에 사용.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26480" y="4206240"/>
            <a:ext cx="5577840" cy="1097280"/>
          </a:xfrm>
          <a:prstGeom prst="roundRect">
            <a:avLst>
              <a:gd name="adj" fmla="val 7500"/>
            </a:avLst>
          </a:prstGeom>
          <a:solidFill>
            <a:srgbClr val="FDF3E3"/>
          </a:solidFill>
          <a:ln/>
        </p:spPr>
      </p:sp>
      <p:sp>
        <p:nvSpPr>
          <p:cNvPr id="11" name="Text 8"/>
          <p:cNvSpPr/>
          <p:nvPr/>
        </p:nvSpPr>
        <p:spPr>
          <a:xfrm>
            <a:off x="6345936" y="4334256"/>
            <a:ext cx="5138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45936" y="4681728"/>
            <a:ext cx="5138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문장보다 "어느 범위가 바뀌나(WHERE)"를 먼저 읽습니다.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COMMIT WORK / ROLLBACK WORK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3624072" cy="1280160"/>
          </a:xfrm>
          <a:prstGeom prst="roundRect">
            <a:avLst>
              <a:gd name="adj" fmla="val 6429"/>
            </a:avLst>
          </a:prstGeom>
          <a:solidFill>
            <a:srgbClr val="6E7797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389888"/>
            <a:ext cx="3477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INSERT / UPDATE / DELETE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993392"/>
            <a:ext cx="3477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실행 — 아직 미확정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072128" y="16459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1584" y="1280160"/>
            <a:ext cx="3624072" cy="1280160"/>
          </a:xfrm>
          <a:prstGeom prst="roundRect">
            <a:avLst>
              <a:gd name="adj" fmla="val 6429"/>
            </a:avLst>
          </a:prstGeom>
          <a:solidFill>
            <a:srgbClr val="3E7C4F"/>
          </a:solidFill>
          <a:ln/>
        </p:spPr>
      </p:sp>
      <p:sp>
        <p:nvSpPr>
          <p:cNvPr id="11" name="Text 9"/>
          <p:cNvSpPr/>
          <p:nvPr/>
        </p:nvSpPr>
        <p:spPr>
          <a:xfrm>
            <a:off x="4364736" y="1389888"/>
            <a:ext cx="3477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COMMIT 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64736" y="1993392"/>
            <a:ext cx="3477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지금까지의 변경을 DB에 확정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860792" y="16459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80248" y="1280160"/>
            <a:ext cx="3624072" cy="1280160"/>
          </a:xfrm>
          <a:prstGeom prst="roundRect">
            <a:avLst>
              <a:gd name="adj" fmla="val 6429"/>
            </a:avLst>
          </a:prstGeom>
          <a:solidFill>
            <a:srgbClr val="C4443C"/>
          </a:solidFill>
          <a:ln/>
        </p:spPr>
      </p:sp>
      <p:sp>
        <p:nvSpPr>
          <p:cNvPr id="15" name="Text 13"/>
          <p:cNvSpPr/>
          <p:nvPr/>
        </p:nvSpPr>
        <p:spPr>
          <a:xfrm>
            <a:off x="8153400" y="1389888"/>
            <a:ext cx="3477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ROLLBACK 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53400" y="1993392"/>
            <a:ext cx="3477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미확정 변경을 취소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83464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283464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 과정의 규칙 — "변경했으면 명시적으로 COMMIT" (암묵적 커밋도 있지만 규칙은 명시!)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611880"/>
            <a:ext cx="11201400" cy="1463040"/>
          </a:xfrm>
          <a:prstGeom prst="roundRect">
            <a:avLst>
              <a:gd name="adj" fmla="val 5625"/>
            </a:avLst>
          </a:prstGeom>
          <a:solidFill>
            <a:srgbClr val="FBEBE9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" y="3739896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44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절대 금지 — SAP 표준 테이블에 직접 INSERT/UPDATE/DELETE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22376" y="4087368"/>
            <a:ext cx="107624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정합성이 깨지고 장애로 이어집니다. 표준 데이터는 표준 함수(BAPI)로만.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우리가 만든 Z테이블(ZEDU##_ORDER)만 만집니다.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라운드 1 — INSERT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7315200" cy="4160520"/>
          </a:xfrm>
          <a:prstGeom prst="roundRect">
            <a:avLst>
              <a:gd name="adj" fmla="val 1538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여기까지 입력하고 실행 → SE16N 확인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68580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CLEAR gs_order.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gs_order-order_id   = 9000000001.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gs_order-cust_id    = 'C00002'.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gs_order-prod_id    = 'P0000005'.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gs_order-quantity   = 2.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gs_order-status     = 'N'.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gs_order-order_date = sy-datum.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gs_order-ernam      = sy-uname.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zedu##_order FROM gs_order.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WRITE: / '1) INSERT sy-subrc =', sy-subrc.     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0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COMMIT WORK.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01000" y="1188720"/>
            <a:ext cx="3703320" cy="2286000"/>
          </a:xfrm>
          <a:prstGeom prst="roundRect">
            <a:avLst>
              <a:gd name="adj" fmla="val 3600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0456" y="1316736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9000000001?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0456" y="1664208"/>
            <a:ext cx="326440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연습용 번호대 —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20건과 안 섞입니다.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후 SE16N에서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9000000001 확인!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01000" y="3657600"/>
            <a:ext cx="3703320" cy="1691640"/>
          </a:xfrm>
          <a:prstGeom prst="roundRect">
            <a:avLst>
              <a:gd name="adj" fmla="val 4865"/>
            </a:avLst>
          </a:prstGeom>
          <a:solidFill>
            <a:srgbClr val="FDF3E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0456" y="3785616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 실행하면?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0456" y="4133088"/>
            <a:ext cx="326440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라운드 2에서 관찰 —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중복이라 sy-subrc = 4.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아니라 정보입니다.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라운드 2 — UPDATE 두 가지 방법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7315200" cy="4160520"/>
          </a:xfrm>
          <a:prstGeom prst="roundRect">
            <a:avLst>
              <a:gd name="adj" fmla="val 1538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이어붙여 다시 실행 → SE16N: 수량 99·상태 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68580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2) UPDATE 방법 A: 구조로 (키로 찾아 전체 교체)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SINGLE * FROM zedu##_order INTO gs_order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order_id = 9000000001.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gs_order-quantity = 99.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zedu##_order FROM gs_order.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COMMIT WORK.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3) UPDATE 방법 B: SET ... WHERE (필드만 콕 집어)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zedu##_order SET status = 'C'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order_id = 9000000001.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WRITE: / '3) UPDATE SET 처리 건수 =', sy-dbcnt.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COMMIT WORK.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01000" y="1188720"/>
            <a:ext cx="3703320" cy="2286000"/>
          </a:xfrm>
          <a:prstGeom prst="roundRect">
            <a:avLst>
              <a:gd name="adj" fmla="val 3600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0456" y="1316736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 코드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0456" y="1664208"/>
            <a:ext cx="326440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 실패 시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"수정할 주문이 없습니다"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후 RETURN —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교재 코드에 포함.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(DISPLAY LIKE 'E'는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U18에서 정식으로)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01000" y="3657600"/>
            <a:ext cx="3703320" cy="1691640"/>
          </a:xfrm>
          <a:prstGeom prst="roundRect">
            <a:avLst>
              <a:gd name="adj" fmla="val 4865"/>
            </a:avLst>
          </a:prstGeom>
          <a:solidFill>
            <a:srgbClr val="FDF3E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0456" y="3785616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0456" y="4133088"/>
            <a:ext cx="326440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실행하면 1)의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subrc가 이번엔 4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(이미 있으니까!)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라운드 3 — MODIFY·ROLLBACK·DELETE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7315200" cy="4160520"/>
          </a:xfrm>
          <a:prstGeom prst="roundRect">
            <a:avLst>
              <a:gd name="adj" fmla="val 1538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— 무르기 체험 포함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68580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MODIFY zedu##_order FROM gs_order. 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9000000002: 없으면 INSERT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COMMIT WORK.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5) ROLLBACK 체험: 갱신했다가 무르기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zedu##_order SET quantity = 777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order_id = 9000000002.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ROLLBACK WORK.                  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확정 전이므로 취소됨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 -&gt; SE16N: 9000000002의 수량은 여전히 1 !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6) DELETE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 FROM zedu##_order WHERE order_id = 9000000001.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WRITE: / '6) DELETE 처리 건수 =', sy-dbcnt.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COMMIT WORK.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01000" y="1188720"/>
            <a:ext cx="3703320" cy="4160520"/>
          </a:xfrm>
          <a:prstGeom prst="roundRect">
            <a:avLst>
              <a:gd name="adj" fmla="val 2222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0456" y="1316736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ROLLBACK 관찰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0456" y="1664208"/>
            <a:ext cx="3264408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UPDATE의 sy-subrc가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0이어도, COMMIT 전이면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ROLLBACK으로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없던 일이 됩니다.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SE16N으로 777이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아닌 것을 꼭 확인 —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"확정 전 변경은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취소할 수 있다"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오후 내내 — 변경 → 확인 리듬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습관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676906" cy="1280160"/>
          </a:xfrm>
          <a:prstGeom prst="roundRect">
            <a:avLst>
              <a:gd name="adj" fmla="val 642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481328"/>
            <a:ext cx="253060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실행 (F8)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2084832"/>
            <a:ext cx="25306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INSERT / UPDATE / DELETE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24962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44418" y="1371600"/>
            <a:ext cx="2676906" cy="1280160"/>
          </a:xfrm>
          <a:prstGeom prst="roundRect">
            <a:avLst>
              <a:gd name="adj" fmla="val 642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417570" y="1481328"/>
            <a:ext cx="253060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SE16N 조회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17570" y="2084832"/>
            <a:ext cx="25306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정말 바뀌었나?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66460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85916" y="1371600"/>
            <a:ext cx="2676906" cy="1280160"/>
          </a:xfrm>
          <a:prstGeom prst="roundRect">
            <a:avLst>
              <a:gd name="adj" fmla="val 642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259068" y="1481328"/>
            <a:ext cx="253060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확인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59068" y="2084832"/>
            <a:ext cx="25306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수량·상태·건수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07958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27414" y="1371600"/>
            <a:ext cx="2676906" cy="1280160"/>
          </a:xfrm>
          <a:prstGeom prst="roundRect">
            <a:avLst>
              <a:gd name="adj" fmla="val 6429"/>
            </a:avLst>
          </a:prstGeom>
          <a:solidFill>
            <a:srgbClr val="3E7C4F"/>
          </a:solidFill>
          <a:ln/>
        </p:spPr>
      </p:sp>
      <p:sp>
        <p:nvSpPr>
          <p:cNvPr id="19" name="Text 17"/>
          <p:cNvSpPr/>
          <p:nvPr/>
        </p:nvSpPr>
        <p:spPr>
          <a:xfrm>
            <a:off x="9100566" y="1481328"/>
            <a:ext cx="253060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라운드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00566" y="2084832"/>
            <a:ext cx="25306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변경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292608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292608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SE16N을 두 번째 세션에 상시 대기 (/o SE16N) — 변경 → 확인 → 변경 → 확인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370332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테이블 MODIFY(메모리)와 DB MODIFY(테이블)는 다른 문장 — 대상을 항상 확인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ZEDU## 의 ##이 내 번호인지 확인 — 다른 학생 테이블을 바꾸는 사고 방지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자주 막힙니다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점검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20140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60807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/ 해결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라운드 1 재실행 → INSERT sy-subrc = 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 중복 — 오류가 아니라 "이미 있음" 정보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UPDATE의 WHERE 조건 누락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행 변경 위험 — WHERE부터 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COMMIT 전에 중단하고 결과 혼동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전 변경은 사라질 수 있음 — SE16N 재확인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테이블 MODIFY와 DB MODIFY 혼동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대상이 메모리(gt_)냐 DB(테이블명)냐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학생 번호의 테이블을 변경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ZEDU##에서 ## 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0624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20624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WHERE 없는 UPDATE/DELETE는 실무 최악 사고 유형 — 실행 전 WHERE를 소리 내어 읽기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Q17 — 데이터 정리 작전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퀴즈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ZEDU##_U17Q</a:t>
            </a:r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(새 프로그램)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7406640" cy="2743200"/>
          </a:xfrm>
          <a:prstGeom prst="roundRect">
            <a:avLst>
              <a:gd name="adj" fmla="val 2333"/>
            </a:avLst>
          </a:prstGeom>
          <a:solidFill>
            <a:srgbClr val="151B33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77393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0664" y="2084832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TODO 1: 실습 잔재 9000000002를 삭제하고 처리 건수 출력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TODO 2: 고객 C00005의 주문을 전부 상태 'C'로 일괄 변경하고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  몇 건이 바뀌었는지 출력 (UPDATE SET + sy-dbcnt)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TODO 3: 실행 후 ZEDU_DATA_LOAD(초기화 옵션)로 데이터 리셋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92440" y="164592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DF3E3"/>
          </a:solidFill>
          <a:ln/>
        </p:spPr>
      </p:sp>
      <p:sp>
        <p:nvSpPr>
          <p:cNvPr id="11" name="Text 9"/>
          <p:cNvSpPr/>
          <p:nvPr/>
        </p:nvSpPr>
        <p:spPr>
          <a:xfrm>
            <a:off x="8311896" y="177393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풀었다면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11896" y="2121408"/>
            <a:ext cx="3172968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퀴즈집 D17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(조건부 수량 증가)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어려웠다면 E17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부록 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66344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466344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 리셋은 필수 — 오후 Toy Project를 깨끗한 20건으로 시작하기 위함입니다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6420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11:30 ~ 12:00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MESSAGE와 메시지 클래스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타입(S/I/W/E/A)의 차이를 안다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SE91 메시지 클래스를 만들어 MESSAGE 문으로 사용할 수 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시간이 끝나면 할 수 있는 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232C6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49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만드는 프로그램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ZEDU##_MSG · ZEDU##_U18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타입 — 색이 아니라 "흐름"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201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91840"/>
                <a:gridCol w="68122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흐름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하단 상태바 (초록)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계속 진행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후 계속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상태바 (노랑)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 따라 다름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상태바 (빨강)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자리에서 처리 중단 (선택화면에선 화면 유지 — U14에서 체험)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프로그램 강제 종료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0624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20624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타입은 색깔뿐 아니라 "흐름"에 영향을 줍니다 — E는 그 자리에서 멈춥니다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사용법 — 리터럴과 메시지 클래스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7680960" cy="1737360"/>
          </a:xfrm>
          <a:prstGeom prst="roundRect">
            <a:avLst>
              <a:gd name="adj" fmla="val 3684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MESSAGE, 두 얼굴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'수량을 확인하세요' TYPE 'E'.        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① 리터럴 (임시·테스트용)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e012(zedu##_msg).                    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② 메시지 클래스 (실무 표준)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s001(zedu##_msg) WITH lv_order_id.   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&amp;1 자리에 값 채우기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366760" y="1188720"/>
            <a:ext cx="3337560" cy="1737360"/>
          </a:xfrm>
          <a:prstGeom prst="roundRect">
            <a:avLst>
              <a:gd name="adj" fmla="val 4737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8586216" y="1316736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클래스로?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86216" y="1664208"/>
            <a:ext cx="28986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문구 재사용 · 일괄 관리 · 다국어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번역. "같은 문구를 두 번 쓰게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되면 메시지 클래스로"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29184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과정은 둘 다 씁니다 — 정식(클래스)과 임시(리터럴)의 차이를 몸으로 익히는 설계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TP에서 X 수정 차단 메시지는 일부러 리터럴로 둡니다 (새 메시지 번호를 만들지 않음)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버튼 로직의 생명줄 — DISPLAY LIKE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핵심 기술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FBEBE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89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4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콜백 안에서 E를 그대로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84708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e012(zedu##_msg).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E = 그 자리에서 처리 중단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ALV 콜백 안에서는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흐름이 이상해질 수 있음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310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44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중단이 필요한 곳이 아니라면 위험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23444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EAF3EC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389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S로 보내되 E처럼 보이게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184708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s020(zedu##_msg)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 LIKE 'E'.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빨갛게 보이지만(E처럼)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흐름은 계속(S)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37960" y="3310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7C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현장의 관용구 — 오후 내내 씁니다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02336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02336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중단이 없으므로 멈춰야 하면 RETURN을 직접! — "빨간 메시지 + RETURN" 세트로 기억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— SE91 메시지 클래스 ZEDU##_MSG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658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SE91 → Message class: ZEDU##_MSG → [Create]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메시지 입력 — 오후 TP에서 전부 사용합니다 (전문은 교재 U18 표)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ZEDU##_U18로 테스트: 수량 0 실행 → 빨간 메시지 + 아랫줄 실행됨</a:t>
            </a:r>
            <a:endParaRPr lang="en-US" sz="1300" dirty="0"/>
          </a:p>
          <a:p>
            <a:pPr lvl="1" marL="304800" indent="-1524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DISPLAY LIKE를 지우고 MESSAGE e012로 바꾸면 → 아랫줄이 실행되지 않음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429000"/>
          <a:ext cx="6583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2120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001~003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&amp;1이(가) 등록/수정/삭제되었습니다 (성공)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010~013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고객·제품 / 수량 오류 / 상태값 오류 (검증)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020~022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수정 불가 · 신규만 삭제 · 커서를 행에 (규칙)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60920" y="1188720"/>
            <a:ext cx="4343400" cy="4160520"/>
          </a:xfrm>
          <a:prstGeom prst="roundRect">
            <a:avLst>
              <a:gd name="adj" fmla="val 1758"/>
            </a:avLst>
          </a:prstGeom>
          <a:solidFill>
            <a:srgbClr val="F3F6FB"/>
          </a:solidFill>
          <a:ln w="12700">
            <a:solidFill>
              <a:srgbClr val="9FB0D0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7543800" y="1188720"/>
            <a:ext cx="39776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D3-02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SE91 — ZEDU##_MSG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10건(001~022) 입력 완료</a:t>
            </a:r>
            <a:endParaRPr lang="en-US" sz="13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전 자리표시자 · 50_슬라이드/스크린샷_캡처목록.md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5349240"/>
            <a:ext cx="6583680" cy="457200"/>
          </a:xfrm>
          <a:prstGeom prst="roundRect">
            <a:avLst>
              <a:gd name="adj" fmla="val 20000"/>
            </a:avLst>
          </a:prstGeom>
          <a:solidFill>
            <a:srgbClr val="DDE7F8"/>
          </a:solidFill>
          <a:ln/>
        </p:spPr>
      </p:sp>
      <p:sp>
        <p:nvSpPr>
          <p:cNvPr id="11" name="Text 8"/>
          <p:cNvSpPr/>
          <p:nvPr/>
        </p:nvSpPr>
        <p:spPr>
          <a:xfrm>
            <a:off x="704088" y="5349240"/>
            <a:ext cx="618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10개가 오후 TP의 모든 메시지입니다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Q18 — 환영 메시지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퀴즈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1: ZEDU##_MSG에 900 "테스트: &amp;1 님 환영합니다" 추가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2: MESSAGE s900(zedu##_msg) WITH sy-uname. 으로 출력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3: 같은 메시지를 TYPE 'I'(팝업)로도</a:t>
            </a:r>
            <a:endParaRPr lang="en-US" sz="1450" dirty="0"/>
          </a:p>
          <a:p>
            <a:pPr lvl="1" marL="304800" indent="-1524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MESSAGE i900(zedu##_msg) WITH sy-uname.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092440" y="1234440"/>
            <a:ext cx="3611880" cy="2377440"/>
          </a:xfrm>
          <a:prstGeom prst="roundRect">
            <a:avLst>
              <a:gd name="adj" fmla="val 3462"/>
            </a:avLst>
          </a:prstGeom>
          <a:solidFill>
            <a:srgbClr val="FDF3E3"/>
          </a:solidFill>
          <a:ln/>
        </p:spPr>
      </p:sp>
      <p:sp>
        <p:nvSpPr>
          <p:cNvPr id="8" name="Text 6"/>
          <p:cNvSpPr/>
          <p:nvPr/>
        </p:nvSpPr>
        <p:spPr>
          <a:xfrm>
            <a:off x="8311896" y="136245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풀었다면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311896" y="1709928"/>
            <a:ext cx="317296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퀴즈집 D18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(검증 결과별 메시지)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어려웠다면 E18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부록 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97764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s900 → i900 — 타입 한 글자가 표시(상태바/팝업)와 흐름을 바꿉니다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점심시간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12:00 ~ 13:00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— 버튼을 달고, 완성합니다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D9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13:00 U19 버튼 이벤트 → 14:00부터 3시간 반, Toy Project.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오전의 부품(FM 검증 · CRUD · 메시지)이 오후에 전부 조립됩니다.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6420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13:00 ~ 13:50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PF-STATUS와 버튼 이벤트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ALV 툴바에 커스텀 버튼을 추가할 수 있다 (PF-STATUS)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클릭을 USER_COMMAND 콜백에서 받아 처리하고, 커서 행을 읽을 수 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시간이 끝나면 할 수 있는 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232C6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49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만드는 프로그램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ZEDU##_U19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버튼을 다는 데 필요한 두 조각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EEF3FB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316736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PF-STATUS (GUI Status)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2376" y="1664208"/>
            <a:ext cx="50474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화면에 어떤 버튼·메뉴가 있는지 정의.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버튼에는 기능 코드(Function Code)라는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이름표가 붙습니다.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6437376" y="1316736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USER_COMMAND 콜백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37376" y="1664208"/>
            <a:ext cx="50474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버튼이 눌리면 ALV가 호출해주는 FORM.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버튼이었는지(기능 코드) + 커서가 어디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있었는지(tabindex = 행 번호)가 들어옵니다.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246120"/>
            <a:ext cx="7680960" cy="1600200"/>
          </a:xfrm>
          <a:prstGeom prst="roundRect">
            <a:avLst>
              <a:gd name="adj" fmla="val 4000"/>
            </a:avLst>
          </a:prstGeom>
          <a:solidFill>
            <a:srgbClr val="151B33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" y="33741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클릭의 순간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0664" y="3685032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[사용자가 '수정' 클릭] → ALV가 FORM user_command 호출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pv_ucomm    = 'FC_EDIT'   (뭘 눌렀나)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ps_selfield-tabindex = 7  (커서는 7행)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66760" y="3246120"/>
            <a:ext cx="3337560" cy="1600200"/>
          </a:xfrm>
          <a:prstGeom prst="roundRect">
            <a:avLst>
              <a:gd name="adj" fmla="val 5143"/>
            </a:avLst>
          </a:prstGeom>
          <a:solidFill>
            <a:srgbClr val="EEF3FB"/>
          </a:solidFill>
          <a:ln/>
        </p:spPr>
      </p:sp>
      <p:sp>
        <p:nvSpPr>
          <p:cNvPr id="16" name="Text 14"/>
          <p:cNvSpPr/>
          <p:nvPr/>
        </p:nvSpPr>
        <p:spPr>
          <a:xfrm>
            <a:off x="8586216" y="3374136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용어 구분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586216" y="3721608"/>
            <a:ext cx="289864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고전 리스트의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 USER-COMMAND와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ALV의 USER_COMMAND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콜백은 다른 진입점 —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ALV 콜백 방식.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512064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" y="512064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코드 = 화면 버튼과 CASE 분기를 연결하는 "계약" — 철자가 다르면 아무 일도 안 일어납니다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— LIST 복사 → 콜백 2줄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 SE38 → ZEDU##_LIST 복사(Ctrl+F5) → ZEDU##_U19 — Text elements 체크!</a:t>
            </a:r>
            <a:endParaRPr lang="en-US" sz="1350" dirty="0"/>
          </a:p>
          <a:p>
            <a:pPr lvl="1" marL="304800" indent="-1524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복사 후 활성화·실행 확인 (어제와 동일하게 돌아야 출발)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FORM show_alv 안 — ALV 호출에 콜백 2줄 추가: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7680960" cy="2651760"/>
          </a:xfrm>
          <a:prstGeom prst="roundRect">
            <a:avLst>
              <a:gd name="adj" fmla="val 2414"/>
            </a:avLst>
          </a:prstGeom>
          <a:solidFill>
            <a:srgbClr val="151B33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264261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REUSE_ALV_GRID_DISPLAY — ★ 2줄만 추가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0664" y="2953512"/>
            <a:ext cx="7223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CALL FUNCTION 'REUSE_ALV_GRID_DISPLAY'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EXPORTING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i_callback_program       = sy-repid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i_callback_pf_status_set = 'SET_STATUS'   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★ 추가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i_callback_user_command  = 'USER_COMMAND' 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★ 추가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i_structure_name         = 'ZEDU##_S_LIST'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...이하 동일...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366760" y="2514600"/>
            <a:ext cx="3337560" cy="2651760"/>
          </a:xfrm>
          <a:prstGeom prst="roundRect">
            <a:avLst>
              <a:gd name="adj" fmla="val 3103"/>
            </a:avLst>
          </a:prstGeom>
          <a:solidFill>
            <a:srgbClr val="FDF3E3"/>
          </a:solidFill>
          <a:ln/>
        </p:spPr>
      </p:sp>
      <p:sp>
        <p:nvSpPr>
          <p:cNvPr id="11" name="Text 9"/>
          <p:cNvSpPr/>
          <p:nvPr/>
        </p:nvSpPr>
        <p:spPr>
          <a:xfrm>
            <a:off x="8586216" y="2642616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 체인 시작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586216" y="2990088"/>
            <a:ext cx="289864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 → U19 → (오후) MAIN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어제의 조회 프로그램이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오늘의 몸통.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'SET_STATUS' 등 문자열은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이름과 정확히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일치해야 합니다.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— 콜백 FORM 2개 추가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7680960" cy="4160520"/>
          </a:xfrm>
          <a:prstGeom prst="roundRect">
            <a:avLst>
              <a:gd name="adj" fmla="val 1538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맨 아래에 (전문은 교재 U19)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72237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set_status USING pt_extab TYPE slis_t_extab.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PF-STATUS 'MAIN' EXCLUDING pt_extab.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ENDFORM.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user_command USING pv_ucomm    LIKE sy-ucomm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ps_selfield TYPE slis_selfield.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pv_ucomm.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'FC_EDIT'.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READ TABLE gt_list INTO gs_list INDEX ps_selfield-tabindex.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sy-subrc = 0.   </a:t>
            </a:r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커서 행의 주문번호를 I 메시지로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ELSE.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 i022(zedu##_msg).      </a:t>
            </a:r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행에 커서를 두세요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ENDIF.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ENDCASE.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ENDFORM.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366760" y="1188720"/>
            <a:ext cx="3337560" cy="4160520"/>
          </a:xfrm>
          <a:prstGeom prst="roundRect">
            <a:avLst>
              <a:gd name="adj" fmla="val 2466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8586216" y="1316736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본 패턴?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86216" y="1664208"/>
            <a:ext cx="2898648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 TABLE ... INDEX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sy-subrc 확인 —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U10의 그 패턴이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처리의 심장입니다.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FC_ADD / FC_DEL은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더미 I 메시지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(오후에 진짜로 구현!)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— SE41에서 PF-STATUS 'MAIN' 만들기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024128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 시작 25분: MAIN 상태 복사·활성 + 버튼 1개 표시 — 미달 시 즉시 기준본 전환 (최고 위험 구간)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SE41 → Program SAPLKKBL, Status STANDARD_FULLSCREEN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[Copy Status] → To: ZEDU##_U19, Status MAIN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SE41에서 ZEDU##_U19 / MAIN → [Change] → Application Toolbar 펼치기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빈 자리에 기능 코드 3개 입력 (오른쪽 표)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저장 → 활성화 (상태도 활성화 필요!)</a:t>
            </a:r>
            <a:endParaRPr lang="en-US" sz="13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38912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코드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FC_ADD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ICON_CREATE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FC_EDIT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ICON_CHANGE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FC_DEL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ICON_DELETE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812280" y="1691640"/>
            <a:ext cx="4892040" cy="4160520"/>
          </a:xfrm>
          <a:prstGeom prst="roundRect">
            <a:avLst>
              <a:gd name="adj" fmla="val 1758"/>
            </a:avLst>
          </a:prstGeom>
          <a:solidFill>
            <a:srgbClr val="F3F6FB"/>
          </a:solidFill>
          <a:ln w="12700">
            <a:solidFill>
              <a:srgbClr val="9FB0D0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6995160" y="1691640"/>
            <a:ext cx="45262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D3-03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Application Toolbar — FC_ADD/FC_EDIT/FC_DEL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텍스트·아이콘 포함</a:t>
            </a:r>
            <a:endParaRPr lang="en-US" sz="13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전 자리표시자 · 50_슬라이드/스크린샷_캡처목록.md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— 툴바에 내 버튼 3개 등장 🎉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6309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툴바에 [등록] [수정] [삭제] 등장 — 각각 눌러보기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위에 커서를 두고 [수정] → 그 행의 주문번호가 메시지로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밖에서 [수정] → i022 "행에 커서를 두세요" (tabindex = 0)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차이(커서 행 읽기)가 오후 수정·삭제 기능의 핵심 재료입니다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995160" y="1188720"/>
            <a:ext cx="4709160" cy="4023360"/>
          </a:xfrm>
          <a:prstGeom prst="roundRect">
            <a:avLst>
              <a:gd name="adj" fmla="val 1818"/>
            </a:avLst>
          </a:prstGeom>
          <a:solidFill>
            <a:srgbClr val="F3F6FB"/>
          </a:solidFill>
          <a:ln w="12700">
            <a:solidFill>
              <a:srgbClr val="9FB0D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178040" y="1188720"/>
            <a:ext cx="4343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D3-04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ALV 툴바 + 커스텀 버튼 3개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[등록] [수정] [삭제]</a:t>
            </a:r>
            <a:endParaRPr lang="en-US" sz="13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전 자리표시자 · 50_슬라이드/스크린샷_캡처목록.md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4572000"/>
            <a:ext cx="6309360" cy="457200"/>
          </a:xfrm>
          <a:prstGeom prst="roundRect">
            <a:avLst>
              <a:gd name="adj" fmla="val 20000"/>
            </a:avLst>
          </a:prstGeom>
          <a:solidFill>
            <a:srgbClr val="DDE7F8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4572000"/>
            <a:ext cx="5907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버튼이 안 보이면? → 다음 슬라이드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자주 막힙니다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점검</a:t>
            </a:r>
            <a:endParaRPr lang="en-US" sz="1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2014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2636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/ 해결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실행해도 버튼이 안 보임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콜백 2줄 추가 누락 or 상태(MAIN) 미활성화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"기능 코드가 처리되지 않음" 경고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CASE의 WHEN 철자 확인 — 기능 코드는 대문자!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SAPLKKBL / STANDARD_FULLSCREEN 오류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철자와 복사 방향(표준 → 내 프로그램) 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상태를 다른 프로그램에 복사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 Program = ZEDU##_U19 인지 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버튼은 눌리는데 커서 행이 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tabindex = 0 처리(i022) — 행 위에 커서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0624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20624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25분 안에 해결이 안 되면 기준본 전환 — 권한·시스템 차이를 수업 중 추적하지 않습니다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Q19 — [건수] 버튼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퀴즈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ZEDU##_U19</a:t>
            </a:r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에 네 번째 버튼을 추가하세요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SE41: FC_CNT — 텍스트 "건수", 아이콘 ICON_SUM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누르면 상태바에 "현재 목록: n건"이 나오게 (MESSAGE ... TYPE 'S')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힌트: DESCRIBE TABLE로 건수 → CONCATENATE로 문장 조립</a:t>
            </a:r>
            <a:endParaRPr lang="en-US" sz="1400" dirty="0"/>
          </a:p>
          <a:p>
            <a:pPr lvl="1" marL="304800" indent="-1524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건수(숫자 타입)는 문자 변수로 옮겨 CONDENSE 후 연결 — Day 2의 그 규칙!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92440" y="164592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DF3E3"/>
          </a:solidFill>
          <a:ln/>
        </p:spPr>
      </p:sp>
      <p:sp>
        <p:nvSpPr>
          <p:cNvPr id="9" name="Text 7"/>
          <p:cNvSpPr/>
          <p:nvPr/>
        </p:nvSpPr>
        <p:spPr>
          <a:xfrm>
            <a:off x="8311896" y="177393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풀었다면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311896" y="2121408"/>
            <a:ext cx="3172968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퀴즈집 D19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(선택 행 금액 표시)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어려웠다면 E19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([신규만] 버튼)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부록 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66344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466344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SE41 버튼 추가 → CASE에 WHEN 'FC_CNT' — 화면(기능 코드)과 코드(WHEN)의 계약을 직접 체결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🏁 Toy Project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14:00 ~ 17:30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간이 주문 관리 프로그램 — ZEDU##_MAIN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FD9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오전의 부품을 전부 조립합니다 — 3시간 뒤 여러분 화면에서 돌아갑니다.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TP-0 명세 → TP-1 골격 → TP-2 등록 → TP-3 수정 → TP-4 삭제 → TP-5 마무리·확장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요구사항 — 이게 오늘의 결승선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14:00~14:10</a:t>
            </a:r>
            <a:endParaRPr lang="en-US" sz="1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201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738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요구사항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주문번호/고객/주문일/상태 조건으로 조회 — 고객명·제품명·금액 포함 ALV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[등록] → 팝업 입력 → 검증(FM) → 주문번호 자동 채번 → INSERT → 메시지 → 목록 갱신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커서 행 → 팝업(수량/상태) → UPDATE — 완료(C) 수정 불가 · 상태는 N/C만 입력 가능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커서 행 → 확인 팝업 → DELETE — 신규(N)만 삭제 가능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931920"/>
            <a:ext cx="6949440" cy="1234440"/>
          </a:xfrm>
          <a:prstGeom prst="roundRect">
            <a:avLst>
              <a:gd name="adj" fmla="val 6667"/>
            </a:avLst>
          </a:prstGeom>
          <a:solidFill>
            <a:srgbClr val="EEF3FB"/>
          </a:solidFill>
          <a:ln/>
        </p:spPr>
      </p:sp>
      <p:sp>
        <p:nvSpPr>
          <p:cNvPr id="8" name="Text 5"/>
          <p:cNvSpPr/>
          <p:nvPr/>
        </p:nvSpPr>
        <p:spPr>
          <a:xfrm>
            <a:off x="722376" y="4059936"/>
            <a:ext cx="6510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시연 (5분)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22376" y="4407408"/>
            <a:ext cx="65105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완성본으로 정상 흐름만 봅니다 — 3시간 뒤 여러분 화면에서 이게 돌아갑니다.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35240" y="3931920"/>
            <a:ext cx="4069080" cy="1234440"/>
          </a:xfrm>
          <a:prstGeom prst="roundRect">
            <a:avLst>
              <a:gd name="adj" fmla="val 6667"/>
            </a:avLst>
          </a:prstGeom>
          <a:solidFill>
            <a:srgbClr val="FDF3E3"/>
          </a:solidFill>
          <a:ln/>
        </p:spPr>
      </p:sp>
      <p:sp>
        <p:nvSpPr>
          <p:cNvPr id="11" name="Text 8"/>
          <p:cNvSpPr/>
          <p:nvPr/>
        </p:nvSpPr>
        <p:spPr>
          <a:xfrm>
            <a:off x="7854696" y="4059936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취소(X) 처리는?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854696" y="4407408"/>
            <a:ext cx="36301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과제 — 여력 있는 분만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(TP-5에서 안내)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골격 조립 — U19를 MAIN으로 복사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14:10~14:40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SE38 → ZEDU##_U19 복사(Ctrl+F5) → ZEDU##_MAIN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복사 옵션: GUI Status 체크 필수! + Text elements 체크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활성화 → 실행 → 버튼 3개가 (아직 더미 메시지로) 동작하는지 확인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301752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GUI Status 체크를 빼먹으면 — 버튼 정의 MAIN이 복사되지 않아 오후 내내 버튼이 없습니다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794760"/>
            <a:ext cx="11201400" cy="1325880"/>
          </a:xfrm>
          <a:prstGeom prst="roundRect">
            <a:avLst>
              <a:gd name="adj" fmla="val 6207"/>
            </a:avLst>
          </a:prstGeom>
          <a:solidFill>
            <a:srgbClr val="FDF3E3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3922776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 체인 완성 — LIST → U19 → MAIN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22376" y="4270248"/>
            <a:ext cx="107624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 생겨도 복사 체인을 바꾸지 않습니다. 이 구조가 재타이핑과 오타를 줄이는 장치입니다.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(PF-STATUS 'MAIN'이 새 프로그램에도 있는지 SE41에서 확인 가능)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산책 — 내 프로그램을 설명할 수 있나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 점검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3개에 답할 수 있으면 준비 완료 — 짝과 서로 설명해보기: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  실행(F8)부터 ALV가 뜨기까지 불리는 이벤트/FORM 순서는?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  [수정] 버튼을 누르면 어느 FORM의 어느 WHEN으로 들어가나?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  ps_selfield-tabindex가 0이 되는 경우는 언제인가?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092440" y="123444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/>
        </p:spPr>
      </p:sp>
      <p:sp>
        <p:nvSpPr>
          <p:cNvPr id="8" name="Text 6"/>
          <p:cNvSpPr/>
          <p:nvPr/>
        </p:nvSpPr>
        <p:spPr>
          <a:xfrm>
            <a:off x="8311896" y="136245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코드 안에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311896" y="1709928"/>
            <a:ext cx="3172968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이미 배운 것 —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순서는 U14,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콜백과 tabindex는 U19.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설명이 막히는 곳이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오후에 막힐 곳입니다.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29768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429768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5분을 아끼지 마세요 — 구조를 말로 설명할 수 있어야 TODO를 채울 수 있습니다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처리 후 목록 자동 갱신 — 2줄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실습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7680960" cy="3108960"/>
          </a:xfrm>
          <a:prstGeom prst="roundRect">
            <a:avLst>
              <a:gd name="adj" fmla="val 2059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user_command 마지막에 추가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7223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user_command USING pv_ucomm    LIKE sy-ucomm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ps_selfield TYPE slis_selfield.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pv_ucomm.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...기존 WHEN들...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ENDCASE.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PERFORM get_data.          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★ 추가: 처리 후 재조회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ps_selfield-refresh = 'X'. 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★ 추가: ALV 화면 갱신 지시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ENDFORM.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366760" y="1188720"/>
            <a:ext cx="3337560" cy="3108960"/>
          </a:xfrm>
          <a:prstGeom prst="roundRect">
            <a:avLst>
              <a:gd name="adj" fmla="val 2647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8586216" y="1316736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티가 안 나지만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86216" y="1664208"/>
            <a:ext cx="289864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등록/수정/삭제가 붙는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순간 "처리 → 목록 즉시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반영"이 됩니다.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밖(공통 후처리)에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두는 것이 포인트 —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버튼이든 갱신.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57200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457200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 체크포인트: 10분 MAIN 실행 → 20분 기본 조회 20건 → 30분 버튼 클릭 메시지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기능 — 흐름 먼저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14:40~15:30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1729740" cy="1371600"/>
          </a:xfrm>
          <a:prstGeom prst="roundRect">
            <a:avLst>
              <a:gd name="adj" fmla="val 6000"/>
            </a:avLst>
          </a:prstGeom>
          <a:solidFill>
            <a:srgbClr val="6E7797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435608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[등록] 클릭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76072" y="2039112"/>
            <a:ext cx="1583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FC_ADD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177796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397252" y="1325880"/>
            <a:ext cx="17297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470404" y="1435608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 입력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70404" y="2039112"/>
            <a:ext cx="1583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POPUP_GET_VALUES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72128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91584" y="1325880"/>
            <a:ext cx="17297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364736" y="1435608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 검증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64736" y="2039112"/>
            <a:ext cx="1583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ORDER_CHECK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66460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85916" y="1325880"/>
            <a:ext cx="17297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59068" y="1435608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채번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59068" y="2039112"/>
            <a:ext cx="1583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 + 1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860792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80248" y="1325880"/>
            <a:ext cx="1729740" cy="1371600"/>
          </a:xfrm>
          <a:prstGeom prst="roundRect">
            <a:avLst>
              <a:gd name="adj" fmla="val 6000"/>
            </a:avLst>
          </a:prstGeom>
          <a:solidFill>
            <a:srgbClr val="3E7C4F"/>
          </a:solidFill>
          <a:ln/>
        </p:spPr>
      </p:sp>
      <p:sp>
        <p:nvSpPr>
          <p:cNvPr id="23" name="Text 21"/>
          <p:cNvSpPr/>
          <p:nvPr/>
        </p:nvSpPr>
        <p:spPr>
          <a:xfrm>
            <a:off x="8153400" y="1435608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INSERT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53400" y="2039112"/>
            <a:ext cx="1583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COMMIT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755124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974580" y="1325880"/>
            <a:ext cx="17297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10047732" y="1435608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메시지·갱신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047732" y="2039112"/>
            <a:ext cx="1583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s001 + refresh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3063240"/>
            <a:ext cx="5852160" cy="1234440"/>
          </a:xfrm>
          <a:prstGeom prst="roundRect">
            <a:avLst>
              <a:gd name="adj" fmla="val 5185"/>
            </a:avLst>
          </a:prstGeom>
          <a:solidFill>
            <a:srgbClr val="151B33"/>
          </a:solidFill>
          <a:ln/>
        </p:spPr>
      </p:sp>
      <p:sp>
        <p:nvSpPr>
          <p:cNvPr id="30" name="Text 28"/>
          <p:cNvSpPr/>
          <p:nvPr/>
        </p:nvSpPr>
        <p:spPr>
          <a:xfrm>
            <a:off x="740664" y="31912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연결 — FC_ADD를 교체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0664" y="350215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'FC_ADD'.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PERFORM create_order.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83680" y="306324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FDF3E3"/>
          </a:solidFill>
          <a:ln/>
        </p:spPr>
      </p:sp>
      <p:sp>
        <p:nvSpPr>
          <p:cNvPr id="33" name="Text 31"/>
          <p:cNvSpPr/>
          <p:nvPr/>
        </p:nvSpPr>
        <p:spPr>
          <a:xfrm>
            <a:off x="6803136" y="3191256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803136" y="3538728"/>
            <a:ext cx="46817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팝업·값 꺼내기 = 주어진 코드 (그대로 입력)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검증·채번·INSERT = ★ TODO (여러분 몫)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461772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36" name="Text 34"/>
          <p:cNvSpPr/>
          <p:nvPr/>
        </p:nvSpPr>
        <p:spPr>
          <a:xfrm>
            <a:off x="704088" y="461772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 단계 마감: 15분 TODO A(검증) → 25분 TODO B(채번) → 35분 TODO C(INSERT까지 정상 등록)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주어진 코드 — POPUP_GET_VALUES 입력 팝업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실습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6949440" cy="4160520"/>
          </a:xfrm>
          <a:prstGeom prst="roundRect">
            <a:avLst>
              <a:gd name="adj" fmla="val 1538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create_order (앞부분) — 그대로 입력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64922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CLEAR ls_field.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ls_field-tabname = 'ZEDU##_ORDER'.  ls_field-fieldname = 'CUST_ID'.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ls_field-fieldtext = '고객 ID'.     ls_field-field_obl = 'X'.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APPEND ls_field TO lt_fields.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 ...PROD_ID / QUANTITY / REMARK 3필드 동일 패턴...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CALL FUNCTION 'POPUP_GET_VALUES'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EXPORTING  popup_title = '주문 등록'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IMPORTING  returncode  = lv_rc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TABLES     fields      = lt_fields.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sy-subrc &lt;&gt; 0 OR lv_rc = 'A'.      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'A' = 팝업 취소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ENDIF.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 TABLE lt_fields INTO ls_field INDEX 1.  lv_cust_id = ls_field-value.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635240" y="1188720"/>
            <a:ext cx="4069080" cy="1783080"/>
          </a:xfrm>
          <a:prstGeom prst="roundRect">
            <a:avLst>
              <a:gd name="adj" fmla="val 4615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7854696" y="1316736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필드를 참조하면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54696" y="1664208"/>
            <a:ext cx="363016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타입·F4 도움말까지 자동.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 필드 순서 = READ INDEX 순서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 고객 / 2 제품 / 3 수량 / 4 비고)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635240" y="3154680"/>
            <a:ext cx="4069080" cy="2194560"/>
          </a:xfrm>
          <a:prstGeom prst="roundRect">
            <a:avLst>
              <a:gd name="adj" fmla="val 3333"/>
            </a:avLst>
          </a:prstGeom>
          <a:solidFill>
            <a:srgbClr val="F3F6FB"/>
          </a:solidFill>
          <a:ln w="12700">
            <a:solidFill>
              <a:srgbClr val="9FB0D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818120" y="3154680"/>
            <a:ext cx="3703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D3-05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등록 — 고객/제품/수량/비고 4필드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표시 포함</a:t>
            </a:r>
            <a:endParaRPr lang="en-US" sz="13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전 자리표시자 · 50_슬라이드/스크린샷_캡처목록.md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TODO A — FM 검증 (여러분 몫)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실습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024128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 시작 15분: TODO A 활성 — 미달 시 체크포인트 코드 A 제공. 이 단계는 DB 변경 없음!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7680960" cy="3657600"/>
          </a:xfrm>
          <a:prstGeom prst="roundRect">
            <a:avLst>
              <a:gd name="adj" fmla="val 1750"/>
            </a:avLst>
          </a:prstGeom>
          <a:solidFill>
            <a:srgbClr val="151B33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7739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(스켈레톤 주석 그대로)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0664" y="2084832"/>
            <a:ext cx="7223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★ TODO A: 오전에 만든 FM 'ZEDU##_ORDER_CHECK'를 호출해 검증하세요.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- EXPORTING: lv_cust_id / lv_prod_id / lv_qty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- IMPORTING: lv_price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- EXCEPTIONS: invalid_cust=1, invalid_prod=2, invalid_qty=3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- CASE sy-subrc로 분기: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1 -&gt; MESSAGE s010(zedu##_msg) WITH lv_cust_id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     DISPLAY LIKE 'E'. RETURN.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2 -&gt; s011 + lv_prod_id 로 동일 패턴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3 -&gt; s012 로 동일 패턴 (WITH 없음)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OTHERS -&gt; '검증 중 오류가 발생했습니다.' 리터럴 후 RETURN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366760" y="1645920"/>
            <a:ext cx="3337560" cy="3657600"/>
          </a:xfrm>
          <a:prstGeom prst="roundRect">
            <a:avLst>
              <a:gd name="adj" fmla="val 2466"/>
            </a:avLst>
          </a:prstGeom>
          <a:solidFill>
            <a:srgbClr val="EEF3FB"/>
          </a:solidFill>
          <a:ln/>
        </p:spPr>
      </p:sp>
      <p:sp>
        <p:nvSpPr>
          <p:cNvPr id="12" name="Text 10"/>
          <p:cNvSpPr/>
          <p:nvPr/>
        </p:nvSpPr>
        <p:spPr>
          <a:xfrm>
            <a:off x="8586216" y="1773936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재료는 전부 오전 것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586216" y="2121408"/>
            <a:ext cx="2898648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골격 = U16 따라치기 ②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= U18의 s010~s012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DISPLAY LIKE 'E'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케이스마다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"빨간 메시지 + RETURN"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세트를 잊지 마세요.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TODO B·C — 채번과 INSERT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실습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024128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 25분: TODO B(채번) → 35분: TODO C(정상 등록까지) — 미달 시 완성 조각을 붙이고 통합 테스트로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7680960" cy="3291840"/>
          </a:xfrm>
          <a:prstGeom prst="roundRect">
            <a:avLst>
              <a:gd name="adj" fmla="val 1944"/>
            </a:avLst>
          </a:prstGeom>
          <a:solidFill>
            <a:srgbClr val="151B33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7739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(스켈레톤 주석 그대로)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0664" y="2084832"/>
            <a:ext cx="7223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★ TODO B: 주문번호 채번 — 현재 최대 번호 + 1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SELECT MAX( order_id ) 를 lv_order_id로 조회한 뒤 1을 더하세요.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★ TODO C: ls_order를 채워 INSERT 하세요.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- order_id/cust_id/prod_id/quantity/remark: 위 변수들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- status = 'N', order_date = sy-datum, ernam = sy-uname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- INSERT 성공(sy-subrc=0): COMMIT WORK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+ MESSAGE s001 WITH lv_order_id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실패: ROLLBACK WORK + '등록 실패' 리터럴 메시지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366760" y="1645920"/>
            <a:ext cx="3337560" cy="3291840"/>
          </a:xfrm>
          <a:prstGeom prst="roundRect">
            <a:avLst>
              <a:gd name="adj" fmla="val 2500"/>
            </a:avLst>
          </a:prstGeom>
          <a:solidFill>
            <a:srgbClr val="FDF3E3"/>
          </a:solidFill>
          <a:ln/>
        </p:spPr>
      </p:sp>
      <p:sp>
        <p:nvSpPr>
          <p:cNvPr id="12" name="Text 10"/>
          <p:cNvSpPr/>
          <p:nvPr/>
        </p:nvSpPr>
        <p:spPr>
          <a:xfrm>
            <a:off x="8586216" y="1773936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MAX+1은 교육용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586216" y="2121408"/>
            <a:ext cx="289864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두 명이 등록하면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번호가 나올 수 있는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 — 실무는 Number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 채번을 씁니다.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(한 줄만 알아두고 진행)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판정 — 등록이 "된다"의 기준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점검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6400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[등록] → C00001 / P0000002 / 3 입력 → 성공 메시지 + 목록에 새 주문</a:t>
            </a:r>
            <a:endParaRPr lang="en-US" sz="1350" dirty="0"/>
          </a:p>
          <a:p>
            <a:pPr lvl="1" marL="304800" indent="-1524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(TP-1의 refresh 2줄 덕분 — 안 보이면 그쪽부터)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고객 C99999 → 빨간 메시지, INSERT 안 됨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SE16N에서도 새 주문 확인 (ALV와 DB가 일치)</a:t>
            </a:r>
            <a:endParaRPr lang="en-US" sz="135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188720"/>
          <a:ext cx="4617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9776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35분 이후 — 남은 15분 필수 시험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등록 1건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고객 또는 제품 1건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 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SE16N과 ALV 목록 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411480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704088" y="411480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등록했는데 목록에 안 보인다? 조회 조건(기간)부터 의심 — 새 주문의 주문일은 "오늘"입니다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자주 막힙니다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점검</a:t>
            </a:r>
            <a:endParaRPr lang="en-US" sz="12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2014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178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/ 해결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수량이 이상하게 들어감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POPUP 값은 문자 필드 — 수량 타입 변수로 받으며 변환 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FM을 찾을 수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'ZEDU##_ORDER_CHECK'의 학생 번호 ## 오타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 오류가 아닌데 s012가 나옴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WHEN OTHERS를 s012로 쓰지 않았는지 — OTHERS는 리터럴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성공했는데 목록에 안 보임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선택화면 기간 확인 — 새 주문의 주문일은 오늘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97764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DDE7F8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397764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여기까지 되면 — 절반 왔습니다. 수정·삭제는 같은 재료의 반복입니다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기능 — 방어부터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15:45~16:30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1729740" cy="1371600"/>
          </a:xfrm>
          <a:prstGeom prst="roundRect">
            <a:avLst>
              <a:gd name="adj" fmla="val 6000"/>
            </a:avLst>
          </a:prstGeom>
          <a:solidFill>
            <a:srgbClr val="6E7797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435608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커서 행 확인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76072" y="2039112"/>
            <a:ext cx="1583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tabindex + READ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177796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397252" y="1325880"/>
            <a:ext cx="1729740" cy="1371600"/>
          </a:xfrm>
          <a:prstGeom prst="roundRect">
            <a:avLst>
              <a:gd name="adj" fmla="val 6000"/>
            </a:avLst>
          </a:prstGeom>
          <a:solidFill>
            <a:srgbClr val="C4443C"/>
          </a:solidFill>
          <a:ln/>
        </p:spPr>
      </p:sp>
      <p:sp>
        <p:nvSpPr>
          <p:cNvPr id="11" name="Text 9"/>
          <p:cNvSpPr/>
          <p:nvPr/>
        </p:nvSpPr>
        <p:spPr>
          <a:xfrm>
            <a:off x="2470404" y="1435608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C·X면 거부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70404" y="2039112"/>
            <a:ext cx="1583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규칙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72128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91584" y="1325880"/>
            <a:ext cx="17297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364736" y="1435608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64736" y="2039112"/>
            <a:ext cx="1583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값 표시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66460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85916" y="1325880"/>
            <a:ext cx="17297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59068" y="1435608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검증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59068" y="2039112"/>
            <a:ext cx="1583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수량·상태 N/C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860792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80248" y="1325880"/>
            <a:ext cx="1729740" cy="1371600"/>
          </a:xfrm>
          <a:prstGeom prst="roundRect">
            <a:avLst>
              <a:gd name="adj" fmla="val 6000"/>
            </a:avLst>
          </a:prstGeom>
          <a:solidFill>
            <a:srgbClr val="3E7C4F"/>
          </a:solidFill>
          <a:ln/>
        </p:spPr>
      </p:sp>
      <p:sp>
        <p:nvSpPr>
          <p:cNvPr id="23" name="Text 21"/>
          <p:cNvSpPr/>
          <p:nvPr/>
        </p:nvSpPr>
        <p:spPr>
          <a:xfrm>
            <a:off x="8153400" y="1435608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53400" y="2039112"/>
            <a:ext cx="1583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COMMIT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755124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974580" y="1325880"/>
            <a:ext cx="17297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10047732" y="1435608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메시지·갱신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047732" y="2039112"/>
            <a:ext cx="1583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s002 + refresh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3063240"/>
            <a:ext cx="5852160" cy="1234440"/>
          </a:xfrm>
          <a:prstGeom prst="roundRect">
            <a:avLst>
              <a:gd name="adj" fmla="val 5185"/>
            </a:avLst>
          </a:prstGeom>
          <a:solidFill>
            <a:srgbClr val="151B33"/>
          </a:solidFill>
          <a:ln/>
        </p:spPr>
      </p:sp>
      <p:sp>
        <p:nvSpPr>
          <p:cNvPr id="30" name="Text 28"/>
          <p:cNvSpPr/>
          <p:nvPr/>
        </p:nvSpPr>
        <p:spPr>
          <a:xfrm>
            <a:off x="740664" y="31912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연결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0664" y="350215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'FC_EDIT'.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PERFORM change_order USING ps_selfield-tabindex.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83680" y="306324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FDF3E3"/>
          </a:solidFill>
          <a:ln/>
        </p:spPr>
      </p:sp>
      <p:sp>
        <p:nvSpPr>
          <p:cNvPr id="33" name="Text 31"/>
          <p:cNvSpPr/>
          <p:nvPr/>
        </p:nvSpPr>
        <p:spPr>
          <a:xfrm>
            <a:off x="6803136" y="3191256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순서가 곧 설계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803136" y="3538728"/>
            <a:ext cx="46817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팝업을 띄우기 전에 행 확인·규칙 차단이 먼저 —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"안 되는 것은 빨리 거절"이 좋은 UI입니다.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461772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36" name="Text 34"/>
          <p:cNvSpPr/>
          <p:nvPr/>
        </p:nvSpPr>
        <p:spPr>
          <a:xfrm>
            <a:off x="704088" y="461772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규칙: 완료(C) 수정 불가 · 취소(X) 수정 불가 · 상태는 N/C만 입력 가능 · 수량은 1 이상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TODO A·B — 행 확인과 상태 차단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실습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7680960" cy="3749040"/>
          </a:xfrm>
          <a:prstGeom prst="roundRect">
            <a:avLst>
              <a:gd name="adj" fmla="val 1707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(스켈레톤 주석 그대로)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7223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★ TODO A: 커서 행 확인 — U19에서 배운 패턴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- pv_index가 0이면 MESSAGE i022(zedu##_msg) 후 RETURN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- READ TABLE gt_list INTO gs_list INDEX pv_index.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실패(sy-subrc&lt;&gt;0)해도 i022 + RETURN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★ TODO B: 업무 규칙 — 완료(C)·취소(X) 주문은 수정 금지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- gs_list-status = 'C' 이면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MESSAGE s020(zedu##_msg) DISPLAY LIKE 'E' 후 RETURN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- gs_list-status = 'X' 이면 아래 리터럴 메시지 후 RETURN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MESSAGE '취소된 주문은 수정할 수 없습니다.'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TYPE 'S' DISPLAY LIKE 'E'.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366760" y="1188720"/>
            <a:ext cx="3337560" cy="3749040"/>
          </a:xfrm>
          <a:prstGeom prst="roundRect">
            <a:avLst>
              <a:gd name="adj" fmla="val 2466"/>
            </a:avLst>
          </a:prstGeom>
          <a:solidFill>
            <a:srgbClr val="FDF3E3"/>
          </a:solidFill>
          <a:ln/>
        </p:spPr>
      </p:sp>
      <p:sp>
        <p:nvSpPr>
          <p:cNvPr id="10" name="Text 8"/>
          <p:cNvSpPr/>
          <p:nvPr/>
        </p:nvSpPr>
        <p:spPr>
          <a:xfrm>
            <a:off x="8586216" y="1316736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차단은 일부러 리터럴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86216" y="1664208"/>
            <a:ext cx="2898648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메시지(020)와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임시 리터럴을 나란히 —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둘의 차이를 몸으로.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메시지 클래스 항목을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추가하지 않습니다.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방어가 끝나기 전에는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팝업이 뜨면 안 됩니다.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주어진 코드(팝업) + ★ TODO C(검증)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실습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7680960" cy="3931920"/>
          </a:xfrm>
          <a:prstGeom prst="roundRect">
            <a:avLst>
              <a:gd name="adj" fmla="val 1628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팝업 — 현재 값을 미리 채워서 보여줌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7223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CLEAR ls_field.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ls_field-tabname = 'ZEDU##_ORDER'.  ls_field-fieldname = 'QUANTITY'.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ls_field-fieldtext = '수량'.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ls_field-value = gs_list-quantity.  CONDENSE ls_field-value.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APPEND ls_field TO lt_fields.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 ...STATUS 필드('상태(N/C)') 동일 패턴 + POPUP_GET_VALUES...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★ TODO C: 입력값 검증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- lv_qty &lt;= 0  -&gt; MESSAGE s012(zedu##_msg)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              DISPLAY LIKE 'E' + RETURN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- lv_status가 'N'도 'C'도 아니면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-&gt; s013 WITH lv_status DISPLAY LIKE 'E' + RETURN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366760" y="1188720"/>
            <a:ext cx="3337560" cy="3931920"/>
          </a:xfrm>
          <a:prstGeom prst="roundRect">
            <a:avLst>
              <a:gd name="adj" fmla="val 2466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8586216" y="1316736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CONDENSE가 왜?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86216" y="1664208"/>
            <a:ext cx="2898648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수량은 숫자 타입 —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팝업의 문자 필드에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넣으면 공백이 생겨서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CONDENSE로 정리.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숫자→문자 변환 패턴이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여기서도 등장합니다.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'Z' 입력 시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s013이 막아야 합니다.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TODO D(UPDATE) — 완성 판정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실습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6583680" cy="2286000"/>
          </a:xfrm>
          <a:prstGeom prst="roundRect">
            <a:avLst>
              <a:gd name="adj" fmla="val 2800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(스켈레톤 주석 그대로)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★ TODO D: UPDATE — 해당 주문의 quantity와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status를 SET ... WHERE로 갱신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- WHERE order_id = gs_list-order_id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- 성공: COMMIT WORK + MESSAGE s002 WITH ...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- 실패: ROLLBACK WORK + '수정 실패' 리터럴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60920" y="1188720"/>
            <a:ext cx="4343400" cy="2286000"/>
          </a:xfrm>
          <a:prstGeom prst="roundRect">
            <a:avLst>
              <a:gd name="adj" fmla="val 3600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7580376" y="1316736"/>
            <a:ext cx="3904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U17의 어느 방법?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580376" y="1664208"/>
            <a:ext cx="39044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B — UPDATE SET ... WHERE.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필드(quantity, status)만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콕 집어 갱신합니다.</a:t>
            </a:r>
            <a:endParaRPr lang="en-US" sz="125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03320"/>
          <a:ext cx="112014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629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완성 판정 — 5가지 전부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주문 수량 변경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목록 반영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상태를 C로 → 그 주문 재수정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빨간 규칙 메시지(020)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주문 수정 시도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리터럴 메시지로 거부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상태에 'Z' 입력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s013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행에서 [수정]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i022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체크포인트 — 45분의 지도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점검</a:t>
            </a:r>
            <a:endParaRPr lang="en-US" sz="12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201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89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되어 있어야 하는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커서 행 읽기 (TODO A)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C/X 선행 차단 (TODO B)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값 읽기와 검증 (TODO C)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UPDATE / COMMIT / 메시지 (TODO D)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마지막 7분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수정 → C 전환 → C 재수정 거부 → X 수정 거부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11480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11480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지키는 것: X 차단은 리터럴 · 별도 메시지 항목 추가 없음 · 취소 기능은 기본 과정에 추가하지 않음(확장 1)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기능 — 확인 팝업까지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16:30~17:10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1729740" cy="1371600"/>
          </a:xfrm>
          <a:prstGeom prst="roundRect">
            <a:avLst>
              <a:gd name="adj" fmla="val 6000"/>
            </a:avLst>
          </a:prstGeom>
          <a:solidFill>
            <a:srgbClr val="6E7797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435608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커서 행 확인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76072" y="2039112"/>
            <a:ext cx="1583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tabindex + READ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177796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397252" y="1325880"/>
            <a:ext cx="1729740" cy="1371600"/>
          </a:xfrm>
          <a:prstGeom prst="roundRect">
            <a:avLst>
              <a:gd name="adj" fmla="val 6000"/>
            </a:avLst>
          </a:prstGeom>
          <a:solidFill>
            <a:srgbClr val="C4443C"/>
          </a:solidFill>
          <a:ln/>
        </p:spPr>
      </p:sp>
      <p:sp>
        <p:nvSpPr>
          <p:cNvPr id="11" name="Text 9"/>
          <p:cNvSpPr/>
          <p:nvPr/>
        </p:nvSpPr>
        <p:spPr>
          <a:xfrm>
            <a:off x="2470404" y="1435608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N만 허용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70404" y="2039112"/>
            <a:ext cx="1583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아니면 s021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72128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91584" y="1325880"/>
            <a:ext cx="17297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364736" y="1435608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팝업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64736" y="2039112"/>
            <a:ext cx="1583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POPUP_TO_CONFIRM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66460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85916" y="1325880"/>
            <a:ext cx="17297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59068" y="1435608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'1' 확인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59068" y="2039112"/>
            <a:ext cx="1583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'1' = [예]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860792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80248" y="1325880"/>
            <a:ext cx="1729740" cy="1371600"/>
          </a:xfrm>
          <a:prstGeom prst="roundRect">
            <a:avLst>
              <a:gd name="adj" fmla="val 6000"/>
            </a:avLst>
          </a:prstGeom>
          <a:solidFill>
            <a:srgbClr val="3E7C4F"/>
          </a:solidFill>
          <a:ln/>
        </p:spPr>
      </p:sp>
      <p:sp>
        <p:nvSpPr>
          <p:cNvPr id="23" name="Text 21"/>
          <p:cNvSpPr/>
          <p:nvPr/>
        </p:nvSpPr>
        <p:spPr>
          <a:xfrm>
            <a:off x="8153400" y="1435608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DELETE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53400" y="2039112"/>
            <a:ext cx="1583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COMMIT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755124" y="1737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974580" y="1325880"/>
            <a:ext cx="17297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10047732" y="1435608"/>
            <a:ext cx="15834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메시지·갱신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047732" y="2039112"/>
            <a:ext cx="1583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C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s003 + refresh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3063240"/>
            <a:ext cx="5852160" cy="1234440"/>
          </a:xfrm>
          <a:prstGeom prst="roundRect">
            <a:avLst>
              <a:gd name="adj" fmla="val 5185"/>
            </a:avLst>
          </a:prstGeom>
          <a:solidFill>
            <a:srgbClr val="151B33"/>
          </a:solidFill>
          <a:ln/>
        </p:spPr>
      </p:sp>
      <p:sp>
        <p:nvSpPr>
          <p:cNvPr id="30" name="Text 28"/>
          <p:cNvSpPr/>
          <p:nvPr/>
        </p:nvSpPr>
        <p:spPr>
          <a:xfrm>
            <a:off x="740664" y="31912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연결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0664" y="350215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'FC_DEL'.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PERFORM delete_order USING ps_selfield-tabindex.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83680" y="306324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FDF3E3"/>
          </a:solidFill>
          <a:ln/>
        </p:spPr>
      </p:sp>
      <p:sp>
        <p:nvSpPr>
          <p:cNvPr id="33" name="Text 31"/>
          <p:cNvSpPr/>
          <p:nvPr/>
        </p:nvSpPr>
        <p:spPr>
          <a:xfrm>
            <a:off x="6803136" y="3191256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지우는 건 되돌릴 수 없다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803136" y="3538728"/>
            <a:ext cx="46817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① 신규(N)만 ② 사용자에게 한 번 더 확인 —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삭제는 항상 이중 방어입니다.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461772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36" name="Text 34"/>
          <p:cNvSpPr/>
          <p:nvPr/>
        </p:nvSpPr>
        <p:spPr>
          <a:xfrm>
            <a:off x="704088" y="461772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주의 — 상태 검사가 팝업보다 먼저! (팝업부터 띄우는 실수가 최다)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TODO A·B + 주어진 코드(확인 팝업)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실습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6949440" cy="4160520"/>
          </a:xfrm>
          <a:prstGeom prst="roundRect">
            <a:avLst>
              <a:gd name="adj" fmla="val 1538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delete_order — 방어 2개는 여러분 몫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64922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★ TODO A: 커서 행 확인 (TP-3의 TODO A와 동일 패턴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    — 이제 안 보고도 쓸 수 있죠?)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★ TODO B: 신규(N)만 삭제 가능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- gs_list-status &lt;&gt; 'N' 이면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MESSAGE s021(zedu##_msg) DISPLAY LIKE 'E' + RETURN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CALL FUNCTION 'POPUP_TO_CONFIRM'  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[주어진 코드]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EXPORTING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titlebar              = '삭제 확인'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text_question         = lv_text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text_button_1         = '예'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text_button_2         = '아니오'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default_button        = '2'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display_cancel_button = ' '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IMPORTING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answer                = lv_answer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EXCEPTIONS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OTHERS                = 2.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sy-subrc &lt;&gt; 0.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ENDIF.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lv_answer &lt;&gt; '1'.              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'1' = [예]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ENDIF.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7635240" y="1188720"/>
            <a:ext cx="4069080" cy="1783080"/>
          </a:xfrm>
          <a:prstGeom prst="roundRect">
            <a:avLst>
              <a:gd name="adj" fmla="val 4615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7854696" y="1316736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default_button = '2'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54696" y="1664208"/>
            <a:ext cx="363016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선택이 [아니오] —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엔터를 급하게 쳐도 안 지워지는 안전 설계.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635240" y="3154680"/>
            <a:ext cx="4069080" cy="2194560"/>
          </a:xfrm>
          <a:prstGeom prst="roundRect">
            <a:avLst>
              <a:gd name="adj" fmla="val 3333"/>
            </a:avLst>
          </a:prstGeom>
          <a:solidFill>
            <a:srgbClr val="F3F6FB"/>
          </a:solidFill>
          <a:ln w="12700">
            <a:solidFill>
              <a:srgbClr val="9FB0D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818120" y="3154680"/>
            <a:ext cx="3703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D3-06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주문번호 질문 + [예] [아니오]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선택 [아니오]</a:t>
            </a:r>
            <a:endParaRPr lang="en-US" sz="13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전 자리표시자 · 50_슬라이드/스크린샷_캡처목록.md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TODO C(DELETE) — 자주 막힘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실습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1201400" cy="1417320"/>
          </a:xfrm>
          <a:prstGeom prst="roundRect">
            <a:avLst>
              <a:gd name="adj" fmla="val 4516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(스켈레톤 주석 그대로)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10744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★ TODO C: DELETE FROM ... WHERE order_id = gs_list-order_id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- 성공: COMMIT WORK + MESSAGE s003 WITH gs_list-order_id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- 실패: ROLLBACK WORK + '삭제 실패' 리터럴</a:t>
            </a:r>
            <a:endParaRPr lang="en-US" sz="105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26080"/>
          <a:ext cx="112014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629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/ 해결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메시지 없이 팝업부터 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상태 검사가 팝업보다 먼저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호출 자체가 실패했는데 진행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POPUP_TO_CONFIRM의 sy-subrc 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[아니오]를 눌렀는데 지워짐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응답값 해석 반대 — '1'만 [예]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건이 지워짐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DELETE WHERE에 주문번호 조건 누락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530352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704088" y="530352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DELETE의 WHERE를 한 번 더 소리 내어 읽기 — 조건이 빠지면 전체 삭제!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판정 — 삭제가 "된다"의 기준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점검</a:t>
            </a:r>
            <a:endParaRPr lang="en-US" sz="12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2014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095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 결과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주문 + [예]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— 목록에서 사라짐 + SE16N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주문 + [아니오]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아무 일 없음 (그대로 유지)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C/X 주문 삭제 시도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팝업이 뜨기 전에 규칙 메시지(s021)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행에서 [삭제]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i022 안내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97764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DDE7F8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397764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전부 통과하면 — CRUD가 완성되었습니다. TP-5에서 처음부터 끝까지 통으로 점검!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점검 시나리오 — 처음부터 끝까지 통으로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17:10~17:30</a:t>
            </a:r>
            <a:endParaRPr lang="en-US" sz="12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2014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943600"/>
                <a:gridCol w="4617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(상태 N)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주문만 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— 정상 1건 + 오류 케이스 2개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성공 메시지 / 빨간 메시지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방금 등록한 주문 수량 수정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반영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C로 변경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반영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주문 수정 재시도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거부됨 (020)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N 주문 삭제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팝업 → 삭제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SE16N으로 최종 데이터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ALV와 DB 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70916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70916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7단계 전부 통과하면 — 완성입니다! (확장 과제는 통과한 사람만)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완성입니다. 축하합니다! 🎉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9260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D9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여러분은 오늘 실무 리포트 개발의 전체 사이클을 한 바퀴 돌았습니다.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SE11 테이블 설계  →  검증 FM  →  CRUD  →  메시지  →  버튼 이벤트  →  조회·등록·수정·삭제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ZEDU##_MAIN — 여러분의 첫 업무 프로그램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과제 6종 — 남은 시간·자습용 (난이도 순)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</a:t>
            </a:r>
            <a:endParaRPr lang="en-US" sz="12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2014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217920"/>
                <a:gridCol w="43434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힌트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[주문 취소] 버튼 (FC_CANCEL) — 신규(N)를 X로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배운 것만으로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더블클릭 시 주문 상세를 I 메시지로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기능 코드 &amp;IC1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합계 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필드 카탈로그 do_sum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상태별 행 색상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layout-info_fieldname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체크박스 다중 선택 삭제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layout-box_fieldname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get_data를 new Open SQL로 리팩터링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콤마 · @ · 인라인 선언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43484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43484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시나리오 7단계 통과자만! — 풀이와 해설은 퀴즈집 "TP-5 확장 과제" 절에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랩업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 동안 지나온 길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2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2014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120640"/>
                <a:gridCol w="48006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배운 것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만든 것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문법 기초, 디버거, SE11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· DE · 테이블 · 스트럭처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테이블, Open SQL, 선택화면, 이벤트, ALV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프로그램 (ZEDU##_LIST)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FM, CRUD, 메시지, 버튼 이벤트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관리 프로그램 완성 (ZEDU##_MAIN)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566160"/>
            <a:ext cx="11201400" cy="1737360"/>
          </a:xfrm>
          <a:prstGeom prst="roundRect">
            <a:avLst>
              <a:gd name="adj" fmla="val 4737"/>
            </a:avLst>
          </a:prstGeom>
          <a:solidFill>
            <a:srgbClr val="EEF3FB"/>
          </a:solidFill>
          <a:ln/>
        </p:spPr>
      </p:sp>
      <p:sp>
        <p:nvSpPr>
          <p:cNvPr id="8" name="Text 5"/>
          <p:cNvSpPr/>
          <p:nvPr/>
        </p:nvSpPr>
        <p:spPr>
          <a:xfrm>
            <a:off x="722376" y="3694176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 답해보세요 — 마무리 점검 6문항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22376" y="4041648"/>
            <a:ext cx="107624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상태 필드는 어디에서 정의했나?   ② 고객명은 어느 테이블에서 JOIN했나?   ③ 등록 전 검증은 어디에서 했나?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버튼 클릭은 어느 FORM으로 들어오나?   ⑤ DB 변경을 확정하는 문장은?   ⑥ 표준 업무 데이터를 바꿀 때는 무엇을 써야 하나?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랩업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공부할 것 (추천 순서)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2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2014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303520"/>
                <a:gridCol w="52578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객체지향 ABAP (클래스/메서드)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모던 ABAP의 기본 전제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CL_GUI_ALV_GRID / SALV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쓴 REUSE의 OO 버전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Dynpro(화면) 개발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FM 대신 진짜 입력 화면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BAPI / BADI / Enhancement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표준을 안전하게 확장하는 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CDS View → RAP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S/4HANA 세대의 개발 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트랜스포트(CTS) · 네이밍 · 성능 기초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실무 투입 전 필수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9768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DDE7F8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29768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"문법을 다 배웠다"가 아니라 — "업무 프로그램의 전체 연결 구조를 한 번 완주했다"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수료를 축하합니다! 🎉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완성한 ZEDU##_MAIN을 지우지 마세요.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여러분의 첫 포트폴리오입니다.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 → 데이터 → 화면 — 업무 프로그램의 전체 사이클을 완주했습니다.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ABAP 기초교육 — Day 3</dc:title>
  <dc:subject>PptxGenJS Presentation</dc:subject>
  <dc:creator>ABAP 기초교육</dc:creator>
  <cp:lastModifiedBy>ABAP 기초교육</cp:lastModifiedBy>
  <cp:revision>1</cp:revision>
  <dcterms:created xsi:type="dcterms:W3CDTF">2026-07-13T13:43:24Z</dcterms:created>
  <dcterms:modified xsi:type="dcterms:W3CDTF">2026-07-13T13:43:24Z</dcterms:modified>
</cp:coreProperties>
</file>