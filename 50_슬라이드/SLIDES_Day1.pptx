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 시작 전 표지. 학생 입장 시 띄워 둔다. 오늘 결승선: 문법 기초 + 주문 테이블 생성(U07)까지.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과정 목표 동기 부여 10분 중 앞부분. '3일 뒤 여러분 화면에서 이게 돌아갑니다'라고 말하며 완성본을 잠깐 시연(또는 스크린샷).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교재 표기법은 여기서 한 번만 설명하고 넘어간다. ## 규칙과 Local Object 저장은 3일 내내 반복되므로 각인시킬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배분: 10분 과정 목표/완성 시연 이미지 → 10분 SAP GUI·트랜잭션·클라이언트·사용자 → 10분 학생 번호·##·Z 네임스페이스·$TMP → 10분 접속 및 /nSE38, /oSE16N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— Q. GUI와 서버는 같은 것? A. GUI는 클라이언트, 처리와 데이터는 서버. Q. 왜 Z? A. 표준/고객 객체 구분용 네임스페이스.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자주 막힘: 다른 클라이언트 접속(데이터가 다름), 사용자 메뉴에서 T-code 못 찾음 → 명령창 직접 입력을 먼저 가르친다.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자주 막힘: /n과 /o 혼동. /n은 현재 세션 이동, /o는 새 세션. F1/F4 차이는 커서를 올려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전원이 SE38 화면까지 열리는지 순회 확인. 3분 이상 전원이 같은 화면에서 막히면 개인 문제가 아니라 환경 문제로 간주하고 전체를 멈춘다.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배분: 10분 프로그램 객체/편집기/저장·활성·실행 구분 → 20분 따라치기 → 10분 오류 체험(마침표·따옴표) → 10분 Q01(또는 퀴즈집 E01).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강조: 저장=소스 저장, 활성화=실행 가능한 버전 생성. '실행해도 옛 결과' 증상은 활성화 누락.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마침표 누락이 첫날 오류의 대부분. 오류 목록 첫 줄을 더블클릭해 '앞 문장'의 마침표를 확인하는 습관을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 규칙: 완성 코드를 길게 타이핑하지 않는다. 한 덩어리 입력 → 저장 → 활성화 → 실행 리듬을 그대로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10분 오류 체험: 마침표 제거, 따옴표 제거를 직접 해보게 한다. '빨간 화면=정상적인 학습 과정'이라는 심리적 안전감을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3가지가 Day 1 오전 질문의 90%. 학생 자리에 갈 때도 이 순서로 본다(## 먼저!).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10분. 순회하며 ##·마침표만 봐 준다. 빠른 학생이 옆 학생 키보드를 잡지 않게 — 설명만 허용.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배분: 15분 DATA/CONSTANTS·기본 타입 → 20분 선언·대입·계산 따라치기 → 10분 P 타입·소수·CLEAR → 5분 Q02 진입. 강조: C/N은 문자 성격, 계산은 I/P. 돈은 P(소수 자릿수 예측 가능).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— Q. 금액은 왜 I가 아닌가? A. 소수와 더 큰 범위 필요. 실무는 CURR+통화키.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관례는 규칙이 아니라 팀의 약속임을 언급. 실무 프로젝트마다 네이밍 규칙 문서가 따로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자주 막힘: 쉼표 넣은 숫자, 소수 리터럴 따옴표 누락. 각 덩어리 입력 후 바로 활성화 리듬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93 검토에서 확정된 교육 포인트. Q02(결제금액)와 Q03(부가세 확장), Day 2 D10에서도 같은 패턴이 반복된다.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필드가 잘려 보인다는 질문 → 타입 길이와 출력 포맷은 별개임을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밀리면 이 슬라이드는 건너뛴다(교재에 있음). 신문법 질문이 길어지면 '보조·확장 영역'임을 안내하고 진행.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 진입 후 11:35 미니퀴즈①로 연결. 스켈레톤은 교재에 있음(패키지 배포본 아님).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의도적인 첫 백지 코딩. 8분 동안은 질문을 받되 코드를 대신 말해주지 않는다. 이후 힌트 순서만 공개: 1) REPORT 2) DATA 3) 값 대입 4) 계산 5)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완료 학생은 부가세 확장 또는 퀴즈집 D02. 점심 전 마무리 — 완성 못 해도 점심 후 U03에 지장 없음을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점심 직후 3분: 상태 N/C/X를 손으로 말하게 한다. 진행 팁: IF=조건식, CASE=한 값의 여러 갈래 기준 반복. 조건 순서가 결과를 바꾸는 예(VIP를 일반보다 먼저)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ENDIF./ENDCASE. 누락이 단골 오류. 블록을 열면 닫는 문장부터 쓰는 습관을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점심 직후라 가볍게. '=이 비교도 대입도 된다'는 혼동 포인트를 미리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교재 U03 💻 절 전체를 입력. 조건 순서를 바꾸면(재고 부족을 먼저) 결과가 어떻게 달라지는지 물어본다.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U01 문장 규칙 2번의 복습. 소문자 'n'을 넣고 왜 N 분기로 안 가는지 질문이 반드시 나온다 — 이 슬라이드로 선제 대응.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시간이 없으면 건너뛴다. CASE 범위 조건 질문이 나오면: 이 과정에서 CASE는 고정 분기용, 범위·복합 조건은 IF가 명확하다고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순서가 결과를 바꾸는 체험이 목적. &gt;= 100만 조건을 뒤에 두면 어떻게 되는지 발문.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 팁: 먼저 5회 반복의 sy-index를 전원이 예측하게 한다. EXIT/CONTINUE/CHECK를 같은 예제로 비교. 무한 루프 종료 방법은 실행 전에 미리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전원이 sy-index 값을 예측하게 한 뒤 실행으로 확인 — 예측→실행→확인 리듬.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CHECK를 루프 밖에서 쓰려는 시도가 나옴 — 루프 제어 맥락으로 한정해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'누적 변수 초기화를 루프 안에 둠'이 단골 실수 — U05 디버거 퀴즈(Q06)와 그대로 연결된다고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 연산이 Q05의 힌트. 실행 전 출력 예측을 받고 실행으로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완료자는 퀴즈집 U04-D. 남은 10분 내 미완료여도 U05 진행에 지장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15:05까지 휴식. U05는 '절대 줄이지 않을 구간' — 이후 강사 병목을 줄이는 투자.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배분: 5분 목적/중단점 → 15분 /h·F5/F6/F8·변수창 → 10분 값 변경 체험 → 10분 Q06. 이 유닛은 절대 줄이지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F5/F6 차이는 Day 3 함수 호출부터 체감된다고 예고. 디버거는 '코드 바라보기'가 아니라 실행 중 값이 언제 달라지는지 찾는 도구.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자주 막힘: 중단점이 안 걸림 → 활성 버전·실행 프로그램 이름 확인. 너무 깊이 들어감 → F6/F7로 복귀.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— Q. 운영에서도 디버깅? A. 제한적으로 하지만 권한·절차·감사 필요, 값 변경은 특히 엄격.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U04에서 예고한 '초기화를 루프 안에 둔' 버그. 디버거 사용 자체가 목적이므로 눈으로 찾은 학생도 디버거로 재확인하게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스토리 환기: '신입 개발자의 첫 임무 = 주문 테이블 설계'. U07 활성 테이블이 Day 2·3 전체의 전제다.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 팁: 칠판에 '도메인→DE→필드' 세 칸을 끝까지 남겨둔다. 도메인=기술, DE=의미, 필드=사용처 반복. 고정값은 F4·화면 기준일 뿐 Open SQL 변경을 자동 차단하지 않음을 분명히.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다이어그램을 칠판에도 그려 U07까지 남겨둔다. 학생이 어느 계층을 만들고 있는지 계속 가리킨다.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'라벨 탭 미입력 → Day 2 ALV 제목이 빈다'가 실제 단골 사고. 여기서 한 번, DE 만들 때 또 한 번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자주 막힘: 저장 후 활성화 누락. 상태 표시(활성)를 확인하는 습관을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N/C/X는 U03에서 이미 만난 값 — '아까 조건문으로 판정한 그 상태를 이제 시스템에 새긴다'로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— Q. 고정값 넣으면 Z를 INSERT 못 하나? A. 화면 검증용일 뿐 DB 제약조건이 아니다. 검증 로직이 필요한 이유.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이름의 도메인/DE를 어느 칸에 넣는지 혼동 — Domain 란(도메인)과 Data type 란(DE) 위치를 화면에서 명확히 가리킨다.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한 것의 반복이라 대부분 완주 가능. 완료자는 퀴즈집 U06-D.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안전장치: 시작 후 25분 테이블 활성 마감 / 43분 스트럭처 활성 마감. 미달자는 기준 객체로 전환(전환 문장 사용). 진행: 9필드 표를 먼저 전부 읽고 → MANDT·ORDER_ID 키부터 입력.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— Q. 스트럭처 데이터는 어디에? A. 자체 저장소 없음. Q. MANDT를 WHERE에 매번? A. Open SQL이 현재 클라이언트를 암묵 처리.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행 수·순서를 강사 화면과 자주 대조시킨다. Delivery Class A(업무 데이터) 의미는 한 줄만.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타입 지정 3방식(내 DE/공용 DE/직접)이 이 표 안에 다 있음을 가리킨다. 통화/수량 경고가 나오면 교재의 지정 타입과 대조.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활성화 실패 시: 오류 로그 첫 줄 → 키 → 기술설정 → Enhancement Category 순서로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강사가이드 2-2의 전환 문장 그대로. 43분에 스트럭처 마감이 한 번 더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표시 필드가 지정 DE를 참조하는지 확인 — 하나라도 빌트인이면 그 컬럼 제목이 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U07 순회 지원의 체크리스트. 활성 실패 로그는 첫 줄만 읽어도 대부분 원인이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Q08은 짝과 서로 설명(1분씩). 세 질문 모두 오늘 칠판의 3계층 그림으로 답할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 운영 루틴(새 개념 없음): 3분 고객5·제품8 → 3분 내 테이블 0건 → 5분 로더 실행·20건 → 2분 상태 N10/C6/X4 → 2분 Day 2 준비물. 설명을 늘리지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확인 질문: '내 테이블의 신규(N) 주문은 몇 건?' 정답 10건. 실패 시: 테이블명·학생 번호 → 로더 입력값 → 같은 클라이언트인지 → 초기화 재실행.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'망가뜨려도 된다'는 심리적 안전장치가 Day 2·3 실습 참여도를 좌우한다. 꼭 말로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카드 5개는 Day 2·3에도 같은 순서로 반복 노출된다. '1차 질문 상대는 디버거' 정신의 실행 버전.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 미달 항목은 Day 2 아침 09:00 전 개별 복구(기준 객체). 특히 테이블·스트럭처 활성은 필수 전제.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2881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ABAP 기초교육 · Day 1 — ABAP 첫걸음과 데이터 딕셔너리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ABAP 3일 기초교육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ABAP 첫걸음과 데이터 딕셔너리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SE38 첫 프로그램 · 변수 · 조건 · 반복 · 디버거 · SE11 테이블 설계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9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일시 ____________     강사 ____________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인트로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뒤 우리가 만들 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작은 회사의 신입 ABAP 개발자입니다.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뒤까지 주문 관리 프로그램을 완성해야 합니다. 고객·제품 마스터는 선배가 만들어 뒀고, 여러분은 주문 테이블을 직접 설계하고 조회·등록·수정·삭제 프로그램을 만듭니다.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6492240" cy="1143000"/>
          </a:xfrm>
          <a:prstGeom prst="roundRect">
            <a:avLst>
              <a:gd name="adj" fmla="val 7200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32257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— 오늘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" y="2670048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 기초(변수·조건·반복·디버거)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주문 테이블을 SE11에서 직접 생성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474720"/>
            <a:ext cx="6492240" cy="1143000"/>
          </a:xfrm>
          <a:prstGeom prst="roundRect">
            <a:avLst>
              <a:gd name="adj" fmla="val 7200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360273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22376" y="3950208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테이블 · Open SQL · 선택화면 · ALV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조회 화면(ZEDU##_LIST) 완성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6492240" cy="1143000"/>
          </a:xfrm>
          <a:prstGeom prst="roundRect">
            <a:avLst>
              <a:gd name="adj" fmla="val 7200"/>
            </a:avLst>
          </a:prstGeom>
          <a:solidFill>
            <a:srgbClr val="EEF3FB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" y="4882896"/>
            <a:ext cx="6053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22376" y="5230368"/>
            <a:ext cx="60533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FM · DB CRUD · 버튼 이벤트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등록/수정/삭제 붙여서 완성 (ZEDU##_MAIN)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9480" y="2194560"/>
            <a:ext cx="4434840" cy="3703320"/>
          </a:xfrm>
          <a:prstGeom prst="roundRect">
            <a:avLst>
              <a:gd name="adj" fmla="val 1975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452360" y="2194560"/>
            <a:ext cx="40690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D1-01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완성본 주문 관리 프로그램 실행 화면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(ALV 목록 + [등록][수정][삭제] 버튼)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인트로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지도 · 교재 사용법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60350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유닛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09:00~09:40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접속과 SAP 기초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09:40~11:35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U01·U02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프로그램 · 변수와 타입 (+미니퀴즈①)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13:00~14:50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U03·U04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조건문 · 반복문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15:05~15:45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디버거 기초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15:55~17:45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U06·U07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SE11: 도메인·DE · 테이블·스트럭처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17:45~18:00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SE16N 확인 + 샘플 데이터 20건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097280"/>
          <a:ext cx="4892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20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##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번호 2자리로 바꿔 입력 (예: 7번 → ZEDU07_U01)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💻 따라치기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시연을 보며 그대로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✍️ 퀴즈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 해결 — TODO만 작성 (정답은 교재 부록 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✨ 모던 ABAP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신문법 버전 — 시간 없으면 건너뛰고 자습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강사 화면/스크린샷 확인 지점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812280" y="3429000"/>
            <a:ext cx="489204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9" name="Text 5"/>
          <p:cNvSpPr/>
          <p:nvPr/>
        </p:nvSpPr>
        <p:spPr>
          <a:xfrm>
            <a:off x="7013448" y="3429000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저장할 때는 항상: 저장 → [Local Object] 클릭 ($TMP)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02920" y="4480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48463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SE38에서 프로그램을 만들어 실행한다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문법(변수·조건·반복)을 구사하고 디버거로 코드를 들여다본다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SE11에서 내 주문 테이블을 직접 만든다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09:00 ~ 09:40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접속과 SAP 기초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시스템에 접속하고 내 번호(##)를 확인한다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T-code로 화면을 이동할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SAP은 무엇이고, ABAP은 무엇인가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3167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= 통합 업무 시스템(ERP)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664208"/>
            <a:ext cx="5047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회계(FI) · 영업(SD) · 구매(MM) 같은 회사 업무를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데이터로 통합해 처리하는 시스템입니다.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"화면 묶음"이 아니라 업무 데이터와 프로세스의 통합이 핵심.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6437376" y="131673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ABAP = 그 위에서 도는 언어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37376" y="1664208"/>
            <a:ext cx="5047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서버 안에서 실행되는 프로그램을 만드는 언어.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3일간 만드는 것은 전부 서버에서 실행되고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GUI는 입력과 표시만 담당합니다.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앞의 Z = 고객(우리)이 만든 객체라는 표시 — 표준과 구분되는 고객 네임스페이스</a:t>
            </a:r>
            <a:endParaRPr lang="en-US" sz="14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과정의 접두어는 ZEDU (교육용)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모듈(FI/SD/MM) 이야기는 쉬는 시간마다 조금씩 소개합니다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실습 정보 — 받아 적기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65836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/ 시스템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________________________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________________________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ID / 초기 비밀번호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________________________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번호 (##)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________________________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234440"/>
            <a:ext cx="4297680" cy="2743200"/>
          </a:xfrm>
          <a:prstGeom prst="roundRect">
            <a:avLst>
              <a:gd name="adj" fmla="val 3000"/>
            </a:avLst>
          </a:prstGeom>
          <a:solidFill>
            <a:srgbClr val="FDF3E3"/>
          </a:solidFill>
          <a:ln/>
        </p:spPr>
      </p:sp>
      <p:sp>
        <p:nvSpPr>
          <p:cNvPr id="8" name="Text 5"/>
          <p:cNvSpPr/>
          <p:nvPr/>
        </p:nvSpPr>
        <p:spPr>
          <a:xfrm>
            <a:off x="7626096" y="136245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## 규칙 (3일 내내!)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26096" y="1709928"/>
            <a:ext cx="385876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교재의 ##는 전부 내 번호 2자리로 바꿔 입력합니다.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7번 수강생: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ZEDU##_U01 → ZEDU07_U01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객체가 안 만들어지면 가장 먼저 ##부터 확인!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4434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클라이언트(Client) = 한 시스템 안의 독립된 회사 공간. 옆 반 Client에 접속하면 같은 계정이라도 데이터가 다릅니다 — 접속 정보를 정확히!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GUI 기본 조작 — T-code와 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T-code(트랜잭션 코드) = 화면 바로가기. 좌상단 명령창에 입력</a:t>
            </a:r>
            <a:endParaRPr lang="en-US" sz="14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쓸 것: SE38(프로그램) · SE11(딕셔너리) · SE16N(데이터 조회)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/n + T-code = 현재 창에서 이동  ·  /o + T-code = 새 창(세션, 최대 6개)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34640"/>
          <a:ext cx="51206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(3일간 가장 많이 누를 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뒤로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도움말 (커서 위치 기준)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가능한 값 목록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274320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6217920" y="274320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SAP 로그온 후 초기 화면 — 명령창에 /nSE38 입력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해보기 — 접속과 화면 이동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받은 계정으로 로그온 (초기 비밀번호 변경)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명령창에 /nSE38 → ABAP 편집기 초기 화면 확인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명령창에 /oSE16N → 새 창으로 데이터 브라우저 열림 확인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창 두 개를 오가며 화면 전환에 익숙해지기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657600"/>
            <a:ext cx="6949440" cy="2103120"/>
          </a:xfrm>
          <a:prstGeom prst="roundRect">
            <a:avLst>
              <a:gd name="adj" fmla="val 3913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785616"/>
            <a:ext cx="6510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규칙 — 3일 내내 동일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" y="4133088"/>
            <a:ext cx="6510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무언가를 저장하면 패키지 입력 창이 뜹니다.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[Local Object] 버튼 클릭 → $TMP 패키지 (운송 없음)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걸 누르면 운송 요청 화면이 떠서 당황하게 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0" y="365760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11" name="Text 9"/>
          <p:cNvSpPr/>
          <p:nvPr/>
        </p:nvSpPr>
        <p:spPr>
          <a:xfrm>
            <a:off x="7973568" y="365760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 접속 완료 확인 후 U01 시작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09:40 ~ 10:30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SE38 첫 프로그램과 WRITE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프로그램을 생성·저장·활성화·실행할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ABAP 문장의 기본 규칙(마침표·주석·체인)을 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ZEDU##_U01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사이클 — 저장·활성화·실행은 다르다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프로그램 = 실행하면 로직을 수행해 결과 목록을 보여주는 가장 기본의 ABAP 프로그램. 3일간 만드는 것은 전부 리포트입니다.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76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코드를 저장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67328" y="2514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26280" y="201168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176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활성화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Ctrl+F3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문법검사 + 실행 가능한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버전 생성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62088" y="2514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321040" y="2011680"/>
            <a:ext cx="3017520" cy="1554480"/>
          </a:xfrm>
          <a:prstGeom prst="roundRect">
            <a:avLst>
              <a:gd name="adj" fmla="val 5882"/>
            </a:avLst>
          </a:prstGeom>
          <a:solidFill>
            <a:srgbClr val="EE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2176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 </a:t>
            </a:r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2697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활성 버전을 실행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069848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4023360"/>
            <a:ext cx="1029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"저장했는데 왜 반영이 안 되죠?" → 활성화를 안 했기 때문. 3일 내내 쓸 리듬입니다.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4800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실행은 항상 마지막 '활성' 버전을 사용합니다 — 저장 중인 소스와 활성 런타임 버전은 분리되어 있습니다.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ABAP 문장 규칙 3가지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3167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마침표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66420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문장은 마침표(.)로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13167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대소문자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7136" y="166420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키워드는 구분 없음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따옴표 안 문자열은 구분!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1887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E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8311896" y="1316736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주석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11896" y="1664208"/>
            <a:ext cx="3172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맨 앞 * = 그 줄 전체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중 " = 그 뒤부터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7498080" cy="2651760"/>
          </a:xfrm>
          <a:prstGeom prst="roundRect">
            <a:avLst>
              <a:gd name="adj" fmla="val 2414"/>
            </a:avLst>
          </a:prstGeom>
          <a:solidFill>
            <a:srgbClr val="151B33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" y="30540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 문장 — 콜론(:)으로 같은 명령 반복 줄이기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" y="3364992"/>
            <a:ext cx="7040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'Hello ABAP!'.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/ '이 줄은 새 줄에 출력됩니다.'.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/  = 줄바꿈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콜론(:) 체인 문장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'3일 뒤에는',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'주문 관리 프로그램을',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'완성합니다'.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2926080"/>
            <a:ext cx="3474720" cy="2651760"/>
          </a:xfrm>
          <a:prstGeom prst="roundRect">
            <a:avLst>
              <a:gd name="adj" fmla="val 3103"/>
            </a:avLst>
          </a:prstGeom>
          <a:solidFill>
            <a:srgbClr val="EEF3FB"/>
          </a:solidFill>
          <a:ln/>
        </p:spPr>
      </p:sp>
      <p:sp>
        <p:nvSpPr>
          <p:cNvPr id="19" name="Text 17"/>
          <p:cNvSpPr/>
          <p:nvPr/>
        </p:nvSpPr>
        <p:spPr>
          <a:xfrm>
            <a:off x="8449056" y="3054096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 팁 (습관!)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49056" y="3401568"/>
            <a:ext cx="303580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Ctrl+Space 자동완성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Ctrl+F2 문법검사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Shift+F1 Pretty Printer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(자동 정렬)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프로그램 생성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명령창 SE38 → Enter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프로그램 이름 ZEDU##_U01 → [Create]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Title '첫 프로그램' · Type 'Executable Program' → [Save]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패키지 창 → [Local Object] 클릭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 코드 입력 → 저장 → 활성화 → 실행(F8)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448056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448056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U01 💻 절을 펴고 같이 진행합니다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400800" y="11887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D1-03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SE38 프로그램 생성 — 속성 창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(Title / Type: Executable Program)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프로그램 — 입력과 결과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6675120" cy="3291840"/>
          </a:xfrm>
          <a:prstGeom prst="roundRect">
            <a:avLst>
              <a:gd name="adj" fmla="val 1944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zedu##_u01.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'Hello ABAP!'.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/ '이 줄은 새 줄에 출력됩니다.'.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'3일 뒤에는',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'주문 관리 프로그램을',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'완성합니다'.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52360" y="1143000"/>
            <a:ext cx="4251960" cy="3291840"/>
          </a:xfrm>
          <a:prstGeom prst="roundRect">
            <a:avLst>
              <a:gd name="adj" fmla="val 1944"/>
            </a:avLst>
          </a:prstGeom>
          <a:solidFill>
            <a:srgbClr val="F4F6F4"/>
          </a:solidFill>
          <a:ln w="9525">
            <a:solidFill>
              <a:srgbClr val="BCC8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3258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[실행 결과 F8]</a:t>
            </a:r>
            <a:endParaRPr lang="en-US" sz="10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ABAP!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줄은 새 줄에 출력됩니다.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3일 뒤에는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주문 관리 프로그램을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완성합니다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지우고 실행해 보기: 마침표를 빼면? 따옴표를 하나 지우면? — 오류 화면과 친해지기</a:t>
            </a:r>
            <a:endParaRPr lang="en-US" sz="13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목록의 첫 줄을 더블클릭 → 문제 위치로 이동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자주 막힙니다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556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949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순서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실행해도 옛 결과가 나옴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활성화(Ctrl+F3) 했는지 확인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빨간 문법 오류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목록 첫 줄 더블클릭 → 앞 문장의 마침표 확인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객체가 생성되지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ZEDU##_... 의 ##를 실제 내 번호로 바꿨는지 확인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749040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3749040"/>
            <a:ext cx="10753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 이 순서: 오류 첫 줄 → 객체명(##) → 마침표·따옴표 → 그래도 안 되면 손 들기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Q01 — 자기소개 카드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ZEDU##_U01Q</a:t>
            </a:r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새로 만들고, 체인 문장(WRITE:)으로 다음 3줄을 출력하세요.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6400800" cy="1737360"/>
          </a:xfrm>
          <a:prstGeom prst="roundRect">
            <a:avLst>
              <a:gd name="adj" fmla="val 3684"/>
            </a:avLst>
          </a:prstGeom>
          <a:solidFill>
            <a:srgbClr val="F4F6F4"/>
          </a:solidFill>
          <a:ln w="9525">
            <a:solidFill>
              <a:srgbClr val="BCC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이름: (본인 이름)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과정: ABAP 기초교육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목표: 주문 관리 프로그램 완성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8862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프로그램 생성 절차부터 혼자서 (Local Object 저장 잊지 말기)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판정: 실행 결과 3줄이 각각 새 줄에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1828800"/>
            <a:ext cx="4389120" cy="3108960"/>
          </a:xfrm>
          <a:prstGeom prst="roundRect">
            <a:avLst>
              <a:gd name="adj" fmla="val 2647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7534656" y="195681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34656" y="2304288"/>
            <a:ext cx="395020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U01-D (심화)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따라오기 어려웠다면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U01-E (쉬운 변형)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정답은 교재 부록 A — 지금은 보지 않기!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10:45 ~ 11:35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변수와 데이터 타입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DATA/CONSTANTS/TYPES로 변수·상수·타입을 선언할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타입을 구분하고 산술 연산을 할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ZEDU##_U02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데이터 타입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변수명 TYPE 타입.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ABAP은 선언하지 않은 변수를 쓸 수 없습니다.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8412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LENGTH 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길이 문자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이름, 코드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가변 길이 문자열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텍스트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LENGTH 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문자 (0패딩)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사번 '00123'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 LENGTH n DECIMALS 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소수점 있는 수(팩형)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금액, 단가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날짜 (YYYYMMDD 8자리)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(HHMMSS 6자리)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등록시각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0" y="1600200"/>
            <a:ext cx="2560320" cy="3108960"/>
          </a:xfrm>
          <a:prstGeom prst="roundRect">
            <a:avLst>
              <a:gd name="adj" fmla="val 3214"/>
            </a:avLst>
          </a:prstGeom>
          <a:solidFill>
            <a:srgbClr val="EEF3FB"/>
          </a:solidFill>
          <a:ln/>
        </p:spPr>
      </p:sp>
      <p:sp>
        <p:nvSpPr>
          <p:cNvPr id="9" name="Text 6"/>
          <p:cNvSpPr/>
          <p:nvPr/>
        </p:nvSpPr>
        <p:spPr>
          <a:xfrm>
            <a:off x="9363456" y="1728216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363456" y="2075688"/>
            <a:ext cx="212140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C와 N은 숫자처럼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보여도 문자!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계산에는 I / P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돈에는 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통화 필드는 DDIC의 CURR + 통화키로 설계합니다 — 오늘은 교육용으로 P를 씁니다.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짓는 관례 · 시스템 필드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21031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접두어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gv_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전역 변수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gv_amount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lv_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변수 (Day 3 FM부터)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lv_price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gc_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상수 (실행 중 안 바뀜)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gc_vat_rate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0" y="1280160"/>
            <a:ext cx="4389120" cy="1828800"/>
          </a:xfrm>
          <a:prstGeom prst="roundRect">
            <a:avLst>
              <a:gd name="adj" fmla="val 4500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7534656" y="1408176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필드 (SAP이 항상 채움)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534656" y="1755648"/>
            <a:ext cx="39502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sy-datum  오늘 날짜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sy-uname  내 사용자 ID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(sy-subrc·sy-tabix·sy-index는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나올 때마다 소개)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34290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3일간 이 관례를 그대로 따릅니다 — 남의 코드를 읽을 때도 접두어가 힌트가 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① — 선언·대입·계산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8595360" cy="4023360"/>
          </a:xfrm>
          <a:prstGeom prst="roundRect">
            <a:avLst>
              <a:gd name="adj" fmla="val 1591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ZEDU##_U02 (앞부분)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gv_prod_name TYPE c LENGTH 20,   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제품명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gv_qty       TYPE i,             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수량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gv_price     TYPE p LENGTH 8 DECIMALS 2,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단가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gv_amount    TYPE p LENGTH 10 DECIMALS 2,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금액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gv_vat       TYPE p LENGTH 10 DECIMALS 2.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부가세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CONSTANTS: gc_vat_rate TYPE p LENGTH 3 DECIMALS 2 VALUE '0.10'.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gv_prod_name = '기계식 키보드'.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gv_qty       = 3.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gv_price     = '45000.00'.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소수 리터럴은 따옴표로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gv_amount    = gv_qty * gv_price.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326880" y="1143000"/>
            <a:ext cx="2377440" cy="4023360"/>
          </a:xfrm>
          <a:prstGeom prst="roundRect">
            <a:avLst>
              <a:gd name="adj" fmla="val 3462"/>
            </a:avLst>
          </a:prstGeom>
          <a:solidFill>
            <a:srgbClr val="FBEBE9"/>
          </a:solidFill>
          <a:ln/>
        </p:spPr>
      </p:sp>
      <p:sp>
        <p:nvSpPr>
          <p:cNvPr id="10" name="Text 8"/>
          <p:cNvSpPr/>
          <p:nvPr/>
        </p:nvSpPr>
        <p:spPr>
          <a:xfrm>
            <a:off x="9546336" y="127101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546336" y="1618488"/>
            <a:ext cx="1938528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 리터럴은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따옴표 필수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'45000.00'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 단위 쉼표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1,200,000 은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금지!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WRITE에는 수식을 쓸 수 없다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BEBE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활성화 실패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'부가세:', gv_amount * gc_vat_rate.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목록에는 변수(데이터 객체)만!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18872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AF3E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변수에 먼저 계산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874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gv_vat = gv_amount * gc_vat_rate.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'부가세:', gv_vat.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→ 변수 → 출력. 항상 이 순서!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124712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931920"/>
            <a:ext cx="1084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Q02·Q03을 포함해 3일 내내 적용되는 규칙입니다 — "계산은 변수에, WRITE에는 변수만"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② — 출력·CLEAR·TYPES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6949440" cy="3840480"/>
          </a:xfrm>
          <a:prstGeom prst="roundRect">
            <a:avLst>
              <a:gd name="adj" fmla="val 1667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ZEDU##_U02 (뒷부분)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gv_vat   = gv_amount * gc_vat_rate.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gv_today = sy-datum.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시스템 필드: 오늘 날짜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'제품명:', gv_prod_name,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'금액  :', gv_amount,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'부가세:', gv_vat,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'날짜  :', gv_today.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gv_qty.         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변수를 초기값으로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'CLEAR 후 수량:', gv_qty.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0" y="114300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151B33"/>
          </a:solidFill>
          <a:ln/>
        </p:spPr>
      </p:sp>
      <p:sp>
        <p:nvSpPr>
          <p:cNvPr id="10" name="Text 8"/>
          <p:cNvSpPr/>
          <p:nvPr/>
        </p:nvSpPr>
        <p:spPr>
          <a:xfrm>
            <a:off x="7918704" y="1271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 — 나만의 타입 (내일 본격 활용)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18704" y="158191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TYPES: ty_price TYPE p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LENGTH 8 DECIMALS 2.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gv_price2 TYPE ty_price.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0" y="315468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EE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7900416" y="3282696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 = 초기값으로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00416" y="3630168"/>
            <a:ext cx="358444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→ 0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→ 공백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"변수 재사용 전 청소" 습관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모던 ABAP으로는 이렇게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참고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778240" cy="2011680"/>
          </a:xfrm>
          <a:prstGeom prst="roundRect">
            <a:avLst>
              <a:gd name="adj" fmla="val 3182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6245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선언 + 문자열 템플릿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73352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DATA(lv_amount) = gv_qty * gv_price.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타입을 우변에서 추론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/ |{ gv_prod_name } { gv_qty }개 = { lv_amount }원|.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선언: "처음 값이 정해지는 그 자리"에서 변수를 만든다 — 실무 신규 코드의 표준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 본문은 classic 문법으로 갑니다. ✨는 "미래에 만날 모습" 소개용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Q02 — 할인가 계산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ZEDU##_U02Q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(스켈레톤 제공 — 교재의 코드를 입력한 뒤 TODO만 작성)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7223760" cy="3017520"/>
          </a:xfrm>
          <a:prstGeom prst="roundRect">
            <a:avLst>
              <a:gd name="adj" fmla="val 2121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77393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" y="2084832"/>
            <a:ext cx="6766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1: 금액(gv_amount) = 단가 x 수량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2: 할인금액(gv_discount) = 금액의 10%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TODO 3: 결제금액(gv_payment) = 금액 - 할인금액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     (WRITE에는 수식 불가 -&gt; 변수에 먼저 계산)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01000" y="1645920"/>
            <a:ext cx="3703320" cy="1463040"/>
          </a:xfrm>
          <a:prstGeom prst="roundRect">
            <a:avLst>
              <a:gd name="adj" fmla="val 4375"/>
            </a:avLst>
          </a:prstGeom>
          <a:solidFill>
            <a:srgbClr val="F4F6F4"/>
          </a:solidFill>
          <a:ln w="9525">
            <a:solidFill>
              <a:srgbClr val="BCC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[기대 결과]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금액 1,400,000.00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할인 140,000.00</a:t>
            </a:r>
            <a:endParaRPr lang="en-US" sz="1050" dirty="0"/>
          </a:p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결제금액 1,260,000.00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01000" y="3291840"/>
            <a:ext cx="3703320" cy="13716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3419856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0456" y="3767328"/>
            <a:ext cx="3264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U02-D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(어려웠다면 U02-E)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9377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9377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 3이 바로 앞에서 배운 규칙 — 결제금액을 변수에 계산한 뒤 WRITE에는 gv_payment만!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종합퀴즈 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11:35 ~ 12:00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Q03 — 견적서 출력기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D9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스켈레톤 없음 — 처음부터 백지 코딩!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U01(프로그램 생성)과 U02(선언·계산)를 스스로 연결하는 첫 종합 점검입니다.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Q03 요구사항 — ZEDU##_Q03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백지 코딩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변수: 제품명(문자) · 수량(정수) · 단가(소수 2자리) 선언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값: '노트북 15인치' · 2 · 1200000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제품명/수량/단가/합계금액 각 줄 + 마지막 줄에 오늘 날짜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32841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막히면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" y="3675888"/>
            <a:ext cx="495604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U01 — 프로그램 생성 절차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U02 — 선언·계산 페이지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(8분 후 강사가 순서 힌트 공개)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3200400"/>
            <a:ext cx="5532120" cy="2377440"/>
          </a:xfrm>
          <a:prstGeom prst="roundRect">
            <a:avLst>
              <a:gd name="adj" fmla="val 3462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3328416"/>
            <a:ext cx="5093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빨리 끝났다면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91656" y="3675888"/>
            <a:ext cx="50932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부가세 10% 줄 추가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부가세도 변수에 계산한 뒤 출력!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(WRITE에는 수식을 쓸 수 없습니다)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또는 퀴즈집 D02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 ~ 13:50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조건문 IF / CASE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IF/ELSEIF/ELSE 와 CASE/WHEN으로 분기할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비교·논리 연산자를 쓸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ZEDU##_U03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IF와 CASE — 구조 비교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40680" cy="3017520"/>
          </a:xfrm>
          <a:prstGeom prst="roundRect">
            <a:avLst>
              <a:gd name="adj" fmla="val 2121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167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— 조건식이 복잡할 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27632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조건.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 조건.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188720"/>
            <a:ext cx="5440680" cy="3017520"/>
          </a:xfrm>
          <a:prstGeom prst="roundRect">
            <a:avLst>
              <a:gd name="adj" fmla="val 2121"/>
            </a:avLst>
          </a:prstGeom>
          <a:solidFill>
            <a:srgbClr val="151B33"/>
          </a:solidFill>
          <a:ln/>
        </p:spPr>
      </p:sp>
      <p:sp>
        <p:nvSpPr>
          <p:cNvPr id="10" name="Text 8"/>
          <p:cNvSpPr/>
          <p:nvPr/>
        </p:nvSpPr>
        <p:spPr>
          <a:xfrm>
            <a:off x="6501384" y="131673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— 하나의 값으로 여러 갈래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01384" y="1627632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변수.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값1.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값2.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OTHERS.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52628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452628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기준: 하나의 값으로 여러 갈래 → CASE  /  조건식이 복잡 → IF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연산자 · 그리고 주문 상태 N/C/X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=   &lt;&gt;   &gt;   &lt;   &gt;=   &lt;=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(옛 표기)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EQ  NE  GT  LT  GE  LE — 옛 코드에서 자주 만남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   OR   NOT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1234440"/>
            <a:ext cx="4114800" cy="2651760"/>
          </a:xfrm>
          <a:prstGeom prst="roundRect">
            <a:avLst>
              <a:gd name="adj" fmla="val 3103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7808976" y="1362456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주문의 상태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08976" y="1709928"/>
            <a:ext cx="367588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신규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= 완료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취소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오후 SE11 도메인에 새겨 넣고,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내내 만나게 됩니다.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2920" y="32918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언어의 == 와 달리 ABAP 비교는 = 하나입니다 (대입도 = — 문맥으로 구분).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상태 판정과 재고 확인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5440680" cy="4206240"/>
          </a:xfrm>
          <a:prstGeom prst="roundRect">
            <a:avLst>
              <a:gd name="adj" fmla="val 1522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CASE: 상태 코드 → 상태명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gv_status = 'N'.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gv_status.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'N'.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gv_text = '신규'.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'C'.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gv_text = '완료'.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'X'.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gv_text = '취소'.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OTHERS.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gv_text = '알수없음'.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ENDCASE.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143000"/>
            <a:ext cx="5440680" cy="4206240"/>
          </a:xfrm>
          <a:prstGeom prst="roundRect">
            <a:avLst>
              <a:gd name="adj" fmla="val 1522"/>
            </a:avLst>
          </a:prstGeom>
          <a:solidFill>
            <a:srgbClr val="151B33"/>
          </a:solidFill>
          <a:ln/>
        </p:spPr>
      </p:sp>
      <p:sp>
        <p:nvSpPr>
          <p:cNvPr id="10" name="Text 8"/>
          <p:cNvSpPr/>
          <p:nvPr/>
        </p:nvSpPr>
        <p:spPr>
          <a:xfrm>
            <a:off x="6501384" y="127101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IF: 재고 확인 (+ AND)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01384" y="1581912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gv_qty   = 5.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gv_stock = 3.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gv_qty &lt;= 0.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/ '오류: 수량은 1 이상'.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ELSEIF gv_qty &gt; gv_stock.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'재고 부족!', gv_qty.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/ '주문 가능합니다.'.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gv_qty &gt; 0 AND gv_qty &lt;= gv_stock.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— 'n' 을 넣으면?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해보기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852160" cy="1280160"/>
          </a:xfrm>
          <a:prstGeom prst="roundRect">
            <a:avLst>
              <a:gd name="adj" fmla="val 5000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408176"/>
            <a:ext cx="5394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gv_status = 'n'.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소문자로 바꿔 실행!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'알수없음'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11201400" cy="1554480"/>
          </a:xfrm>
          <a:prstGeom prst="roundRect">
            <a:avLst>
              <a:gd name="adj" fmla="val 5294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60273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2376" y="3950208"/>
            <a:ext cx="107624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키워드는 대소문자를 구분하지 않지만, 따옴표 안 문자열은 구분합니다. 'N' ≠ 'n'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 값 비교에서 대소문자는 항상 의식할 것 (Day 3 상태 검증에서 다시 만납니다)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모던 ABAP — COND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참고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778240" cy="2194560"/>
          </a:xfrm>
          <a:prstGeom prst="roundRect">
            <a:avLst>
              <a:gd name="adj" fmla="val 2917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62456"/>
            <a:ext cx="83210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gv_text = COND #( WHEN gv_status = 'N' THEN '신규'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WHEN gv_status = 'C' THEN '완료'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WHEN gv_status = 'X' THEN '취소'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ELSE '알수없음' 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COND는 "값을 돌려주는 IF" — 대입 한 줄로 끝납니다.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Q04 — 주문 등급 판정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ZEDU##_U03Q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(스켈레톤 제공 — IF ~ ELSEIF ~ ELSE ~ ENDIF 사용)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100만원 이상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'VIP'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10만원 이상 ~ 100만원 미만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'일반'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10만원 미만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'소액'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9319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바꿔가며(50000, 500000) 세 등급이 모두 나오는지 확인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순서에 주의 — VIP 판정을 일반보다 먼저!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949440" y="1691640"/>
            <a:ext cx="4754880" cy="2194560"/>
          </a:xfrm>
          <a:prstGeom prst="roundRect">
            <a:avLst>
              <a:gd name="adj" fmla="val 3750"/>
            </a:avLst>
          </a:prstGeom>
          <a:solidFill>
            <a:srgbClr val="FDF3E3"/>
          </a:solidFill>
          <a:ln/>
        </p:spPr>
      </p:sp>
      <p:sp>
        <p:nvSpPr>
          <p:cNvPr id="10" name="Text 7"/>
          <p:cNvSpPr/>
          <p:nvPr/>
        </p:nvSpPr>
        <p:spPr>
          <a:xfrm>
            <a:off x="7168896" y="1819656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풀었다면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68896" y="2167128"/>
            <a:ext cx="431596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퀴즈집 U03-D (심화)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어려웠다면 U03-E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14:00 ~ 14:50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DO / WHILE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DO/WHILE로 반복하고 sy-index를 읽을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EXIT/CONTINUE/CHECK로 반복을 제어할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232C6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349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만드는 프로그램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ZEDU##_U04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구조 3가지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362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 지정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67335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5 TIMES.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23444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151B33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362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+ 탈출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35424" y="167335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조건. EXIT. ENDIF.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151B33"/>
          </a:solidFill>
          <a:ln/>
        </p:spPr>
      </p:sp>
      <p:sp>
        <p:nvSpPr>
          <p:cNvPr id="13" name="Text 11"/>
          <p:cNvSpPr/>
          <p:nvPr/>
        </p:nvSpPr>
        <p:spPr>
          <a:xfrm>
            <a:off x="8330184" y="13624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반복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30184" y="1673352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조건.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355701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sy-index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22376" y="3904488"/>
            <a:ext cx="50474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몇 번째 반복인지 (1부터 시작)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 5 TIMES 안에서: 1, 2, 3, 4, 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3520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미리보기: DO 5 TIMES 안에서 sy-index를 출력하면 어떤 값이 몇 개 나올까요?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제어 — EXIT · CONTINUE · CHECK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7498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669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 즉시 탈출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회차 건너뜀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 조건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조건이 거짓이면 건너뜀 (CONTINUE와 동일 효과)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337560"/>
            <a:ext cx="11201400" cy="1737360"/>
          </a:xfrm>
          <a:prstGeom prst="roundRect">
            <a:avLst>
              <a:gd name="adj" fmla="val 4737"/>
            </a:avLst>
          </a:prstGeom>
          <a:solidFill>
            <a:srgbClr val="FBEBE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5204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무한 루프 주의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DO.(횟수 없음)나 WHILE에서 조건 변수를 갱신하지 않으면 프로그램이 멈추지 않습니다.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멎으면 강사를 부르세요 → 메뉴에서 트랜잭션 중단으로 종료합니다.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① — DO와 누적합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6766560" cy="4023360"/>
          </a:xfrm>
          <a:prstGeom prst="roundRect">
            <a:avLst>
              <a:gd name="adj" fmla="val 1591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ZEDU##_U04 (앞부분)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6309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1) DO n TIMES + sy-index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5 TIMES.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sy-index, '번째 반복입니다'.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2) 1~10 누적합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gv_sum.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10 TIMES.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gv_sum = gv_sum + sy-index.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'1~10 합계:', gv_sum.       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55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143000"/>
            <a:ext cx="4206240" cy="2377440"/>
          </a:xfrm>
          <a:prstGeom prst="roundRect">
            <a:avLst>
              <a:gd name="adj" fmla="val 3462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717536" y="127101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패턴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17536" y="1618488"/>
            <a:ext cx="376732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초기화(CLEAR)는 루프 밖!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안에서 초기화하면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0부터 다시 시작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이따 Q06 버그의 정체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② — WHILE과 제어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6766560" cy="4206240"/>
          </a:xfrm>
          <a:prstGeom prst="roundRect">
            <a:avLst>
              <a:gd name="adj" fmla="val 1522"/>
            </a:avLst>
          </a:prstGeom>
          <a:solidFill>
            <a:srgbClr val="151B33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2710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6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ZEDU##_U04 (뒷부분)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581912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3) WHILE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gv_cnt.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gv_cnt &lt; 3.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gv_cnt = gv_cnt + 1.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이 줄을 지우면? -&gt; 무한 루프!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'WHILE 반복:', gv_cnt.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ENDWHILE.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4) CONTINUE / EXIT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10 TIMES.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sy-index MOD 2 = 1. CONTINUE. ENDIF.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홀수 건너뛰기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sy-index &gt; 8.       EXIT.     ENDIF.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8 초과면 종료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WRITE: / '짝수:', sy-index.       </a:t>
            </a:r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A96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 4 6 8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0" y="1143000"/>
            <a:ext cx="420624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717536" y="127101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예측!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17536" y="1618488"/>
            <a:ext cx="376732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4)의 출력은?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2, 4, 6, 8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(홀수는 CONTINUE,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10은 EXIT에 걸림)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Q05 — 3의 배수 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백지 코딩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ZEDU##_U04Q</a:t>
            </a:r>
            <a:pPr indent="0" marL="0">
              <a:buNone/>
            </a:pPr>
            <a:r>
              <a:rPr lang="en-US" sz="15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1부터 100까지 중 3의 배수만 모두 더해 출력하세요.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04825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 / 판정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" y="2395728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힌트: MOD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결과: 1683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532120" cy="2011680"/>
          </a:xfrm>
          <a:prstGeom prst="roundRect">
            <a:avLst>
              <a:gd name="adj" fmla="val 4091"/>
            </a:avLst>
          </a:prstGeom>
          <a:solidFill>
            <a:srgbClr val="FDF3E3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2048256"/>
            <a:ext cx="5093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스켈레톤 없음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391656" y="2395728"/>
            <a:ext cx="509320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Q03에 이어 두 번째 백지 코딩.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REPORT부터 스스로!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쉬는시간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문법 4종 세트 — 완료!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U01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생성 · WRITE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600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U02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· 타입 · 계산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00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U03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IF/CASE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0" y="146304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0" y="16002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U04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DO/WHILE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에러를 스스로 찾는 무기 — 디버거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오늘부터 여러분의 1차 질문 상대는 강사가 아니라 디버거입니다.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15:05 ~ 15:45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디버거 기초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브레이크포인트를 걸고 한 줄씩 실행하며 변수값을 확인할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"에러가 나면 디버거로 먼저 확인" 습관을 들인다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디버거 조작법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브레이크포인트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에디터에서 해당 줄 클릭 → [세션 브레이크포인트] (줄 왼쪽 아이콘)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디버거 시작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브레이크포인트 상태로 F8 (또는 명령창 /h 입력 후 실행)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실행 — 호출 안으로 들어감 (Step Into)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실행 — 호출 안으로 안 들어감 (Step Over)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블록 끝까지 실행하고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브레이크포인트까지 계속 (없으면 끝까지)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 보기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변수명 더블클릭 → 우측 값 표시 (연필 아이콘 = 값 변경)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18872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7680960" y="1188720"/>
            <a:ext cx="3840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D1-04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디버거 화면 — 현재 줄 표시와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변수값 감시 영역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— 누적합을 눈으로 보기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ZEDU##_U04 열기 → gv_sum 누적 줄에 브레이크포인트 설정</a:t>
            </a:r>
            <a:endParaRPr lang="en-US" sz="13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(gv_sum = gv_sum + sy-index. 줄)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F8 실행 → 디버거가 열림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gv_sum, sy-index 더블클릭으로 감시하며 F8 반복</a:t>
            </a:r>
            <a:endParaRPr lang="en-US" sz="13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→ 루프 안 브레이크포인트라 매 회전마다 멈춤 — 합이 쌓이는 과정 관찰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브레이크포인트 해제 (다시 클릭)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40880" y="1188720"/>
            <a:ext cx="466344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223760" y="1188720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D1-05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에디터의 브레이크포인트 아이콘과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디버거 진입 순간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변경 체험 — 디버거는 읽기 전용이 아니다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155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디버거에서 gv_sum 값을 직접 100으로 바꾸고 끝까지 실행(F8)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출력이 바뀐다: 코드 수정 없이 "이 값이면 어떻게 되지?"를 실험 가능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1201400" cy="1737360"/>
          </a:xfrm>
          <a:prstGeom prst="roundRect">
            <a:avLst>
              <a:gd name="adj" fmla="val 4737"/>
            </a:avLst>
          </a:prstGeom>
          <a:solidFill>
            <a:srgbClr val="FBEBE9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96265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운영 시스템에서는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" y="3310128"/>
            <a:ext cx="10762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변경 디버깅은 권한·감사 이슈가 있는 민감한 행위입니다. 교육 시스템에서만 자유롭게 실험하세요.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(실무에서는 긴급 분석에 제한적으로, 절차를 갖춰 사용)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Q06 — 버그를 찾아라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ZEDU##_U05Q</a:t>
            </a:r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아래 코드를 그대로 입력. 1~10의 합 55가 나와야 하는데 10이 나옵니다!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6309360" cy="3108960"/>
          </a:xfrm>
          <a:prstGeom prst="roundRect">
            <a:avLst>
              <a:gd name="adj" fmla="val 2059"/>
            </a:avLst>
          </a:prstGeom>
          <a:solidFill>
            <a:srgbClr val="151B33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1819656"/>
            <a:ext cx="585216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zedu##_u05q.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gv_sum TYPE i.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10 TIMES.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gv_sum = 0.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gv_sum = gv_sum + sy-index.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ENDDO.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8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WRITE: / '1~10 합계:', gv_sum.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86600" y="1691640"/>
            <a:ext cx="4617720" cy="3108960"/>
          </a:xfrm>
          <a:prstGeom prst="roundRect">
            <a:avLst>
              <a:gd name="adj" fmla="val 2647"/>
            </a:avLst>
          </a:prstGeom>
          <a:solidFill>
            <a:srgbClr val="FDF3E3"/>
          </a:solidFill>
          <a:ln/>
        </p:spPr>
      </p:sp>
      <p:sp>
        <p:nvSpPr>
          <p:cNvPr id="10" name="Text 8"/>
          <p:cNvSpPr/>
          <p:nvPr/>
        </p:nvSpPr>
        <p:spPr>
          <a:xfrm>
            <a:off x="7306056" y="1819656"/>
            <a:ext cx="4178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06056" y="2167128"/>
            <a:ext cx="417880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찾지 말 것!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디버거로 gv_sum이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0으로 돌아가는지 관찰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그게 오늘의 목적입니다.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줄을 찾고, 고치세요.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쉬는시간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여기부터는 데이터의 세계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지금까지: 프로그램 안의 변수 — 실행이 끝나면 사라진다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지금부터: 시스템에 남는 데이터 — DB 테이블을 직접 설계한다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305409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 (15:55~)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59536" y="3401568"/>
            <a:ext cx="49560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도메인과 데이터 엘리먼트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필드의 '재료' 만들기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92608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3054096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 (16:55~)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8816" y="3401568"/>
            <a:ext cx="49560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테이블 ZEDU##_ORDER 생성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오늘의 최종 결과물!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15:55 ~ 16:45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SE11 ① 도메인과 데이터 엘리먼트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→ 데이터 엘리먼트 → 필드 3계층을 이해한다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고정값을 가진 도메인과 DE를 만들 수 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DDIC 3계층 — 도메인 · DE · 필드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딕셔너리(DDIC) = 시스템 전체가 공유하는 "데이터 정의 창고" (SE11에서 관리)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속성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 1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고정값 N / C / X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274320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E4ECFA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1031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엘리먼트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(라벨·문서)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"주문상태" 라는 이름표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18120" y="274320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458200" y="1920240"/>
            <a:ext cx="32461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21031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필드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사용처</a:t>
            </a:r>
            <a:endParaRPr lang="en-US" sz="17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ZEDU##_ORDER-STATUS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4572000"/>
            <a:ext cx="1078992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572000"/>
            <a:ext cx="1038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= 기술  ·  DE = 의미  ·  필드 = 사용처  — 오늘 이 세 단어만 기억하면 성공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나눠서 만들까?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"주문상태"와 "배송상태"는 의미(DE)는 달라도 기술 속성(CHAR 1 도메인)은 같을 수 있다</a:t>
            </a:r>
            <a:endParaRPr lang="en-US" sz="145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도메인 하나를 여러 DE가 재사용, DE 하나를 여러 테이블 필드가 재사용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 = 일관성: 길이·허용값을 한 곳에서 관리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11201400" cy="1737360"/>
          </a:xfrm>
          <a:prstGeom prst="roundRect">
            <a:avLst>
              <a:gd name="adj" fmla="val 4737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32841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미리보기 — DE 라벨의 위력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" y="3675888"/>
            <a:ext cx="10762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DE에 입력하는 필드 라벨은 화면(ALV 컬럼 제목, 팝업 라벨)에 자동으로 나타납니다.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ALV에서 한글 컬럼 제목을 공짜로 얻는 이유가 오늘의 라벨 입력입니다 — 라벨 탭을 비우지 마세요!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① — 도메인 ZEDU##_ORDID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SE11 → Domain 란에 ZEDU##_ORDID → [Create]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Short Description: 주문번호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Definition 탭: Data Type NUMC · No. Characters 10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저장([Local Object]) → 활성화(Ctrl+F3)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840480"/>
            <a:ext cx="603504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3840480"/>
            <a:ext cx="5632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DDIC 객체도 활성화해야 쓸 수 있습니다!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18872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995160" y="1188720"/>
            <a:ext cx="4526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D1-06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SE11 도메인 Definition 탭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(NUMC / 10) + 활성화 상태 표시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② — 도메인 ZEDU##_STATUS + 고정값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ZEDU##_STATUS → [Create] · 설명 '주문상태' · CHAR 1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Value Range 탭 → Single Values 입력:</a:t>
            </a:r>
            <a:endParaRPr lang="en-US" sz="14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77440"/>
          <a:ext cx="4023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Fixed Value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2062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저장 → 활성화 — 이 도메인을 쓰는 필드에 F4 목록이 공짜로 생깁니다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12280" y="1188720"/>
            <a:ext cx="489204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995160" y="1188720"/>
            <a:ext cx="4526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D1-07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Value Range 탭 —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고정값 N/C/X 입력 화면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고정값이 해주는 것 / 안 해주는 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486400" cy="2926080"/>
          </a:xfrm>
          <a:prstGeom prst="roundRect">
            <a:avLst>
              <a:gd name="adj" fmla="val 2813"/>
            </a:avLst>
          </a:prstGeom>
          <a:solidFill>
            <a:srgbClr val="EAF3EC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40817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해주는 것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755648"/>
            <a:ext cx="504748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입력 검사의 기준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도움말 목록 자동 생성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"정의상 N/C/X 외에는 없다"는 문서화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486400" cy="2926080"/>
          </a:xfrm>
          <a:prstGeom prst="roundRect">
            <a:avLst>
              <a:gd name="adj" fmla="val 2813"/>
            </a:avLst>
          </a:prstGeom>
          <a:solidFill>
            <a:srgbClr val="FBEBE9"/>
          </a:solidFill>
          <a:ln/>
        </p:spPr>
      </p:sp>
      <p:sp>
        <p:nvSpPr>
          <p:cNvPr id="10" name="Text 8"/>
          <p:cNvSpPr/>
          <p:nvPr/>
        </p:nvSpPr>
        <p:spPr>
          <a:xfrm>
            <a:off x="6483096" y="140817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44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안 해주는 것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83096" y="1755648"/>
            <a:ext cx="504748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프로그램의 INSERT/UPDATE까지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막지는 않습니다!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Day 3에서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FM을 직접 만듭니다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③ — 데이터 엘리먼트 2개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SE11 → Data type 란에 ZEDU##_ORDID → [Create] → Data Element 선택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Data Type 탭: Domain 란에 ZEDU##_ORDID</a:t>
            </a:r>
            <a:endParaRPr lang="en-US" sz="13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(도메인과 같은 이름 — SAP에서 흔한 관례. 객체 종류가 달라 충돌 없음)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Field Label 탭: Short/Medium/Long/Heading 전부 '주문번호'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저장 → 활성화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 같은 방법으로 DE ZEDU##_STATUS (도메인 ZEDU##_STATUS · 라벨 '주문상태')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188720"/>
            <a:ext cx="466344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223760" y="1188720"/>
            <a:ext cx="4297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D1-08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Field Label 탭 —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길이 라벨 입력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Q07 — 배송방법 도메인·DE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+ DE 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ZEDU##_DELIV</a:t>
            </a:r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를 만드세요.</a:t>
            </a:r>
            <a:endParaRPr lang="en-US" sz="15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7863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3093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 1 · 고정값  P 택배 / Q 퀵 / V 방문수령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도메인 참조 · 라벨 '배송방법'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확장 과제에서 주문 테이블에 이 필드를 직접 추가해볼 수 있습니다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0" y="1828800"/>
            <a:ext cx="301752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</p:spPr>
      </p:sp>
      <p:sp>
        <p:nvSpPr>
          <p:cNvPr id="10" name="Text 7"/>
          <p:cNvSpPr/>
          <p:nvPr/>
        </p:nvSpPr>
        <p:spPr>
          <a:xfrm>
            <a:off x="8906256" y="195681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906256" y="2304288"/>
            <a:ext cx="257860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도메인·DE 모두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'활성' 상태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16:55 ~ 17:45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SE11 ② 스트럭처와 테이블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 테이블을 생성하고 활성화할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스트럭처와 테이블의 차이를 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6035040"/>
            <a:ext cx="676656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6035040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시작+25분 테이블 활성 · 시작+43분 스트럭처 활성 마감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 테이블 vs 스트럭처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36245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 테이블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709928"/>
            <a:ext cx="504748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DDIC 정의가 DB에 실제 테이블로 생성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저장됨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오늘: ZEDU##_ORDER (주문)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6483096" y="136245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스트럭처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83096" y="1709928"/>
            <a:ext cx="504748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묶음의 '정의'일 뿐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저장 안 됨 — 프로그램 변수·화면 구조로 사용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오늘: ZEDU##_S_LIST (조회 화면용)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MANDT(Client) = 한 시스템 안의 독립된 회사 공간 구분자 — 업무 테이블 1번 키는 관례적으로 MANDT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필드 타입 지정 3가지를 오늘 다 써봅니다: ① 내가 만든 DE  ② 공용/표준 DE  ③ 빌트인 타입 직접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① — 테이블 ZEDU##_ORDER 생성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SE11 → Database table 란에 ZEDU##_ORDER → [Create]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Short Description '주문 (##번)'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Delivery and Maintenance 탭:</a:t>
            </a:r>
            <a:endParaRPr lang="en-US" sz="14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2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Delivery Class A  ·  Data Browser/Table View Editing: Display/Maintenance Allowed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Fields 탭에 9개 필드 입력 (다음 슬라이드 표)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297680"/>
            <a:ext cx="768096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4297680"/>
            <a:ext cx="7278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끝까지 먼저 읽고 → 키 2개(MANDT·ORDER_ID)부터 입력합니다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ZEDU##_ORDER — 9개 필드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표 ★</a:t>
            </a:r>
            <a:endParaRPr lang="en-US" sz="1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7315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48640"/>
                <a:gridCol w="3566160"/>
                <a:gridCol w="164592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Field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element / 직접 타입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MANDT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MANDT (표준)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클라이언트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ZEDU##_ORDID (내가 만든 것)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ZEDU_CUSTID (공용)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ZEDU_PRODID (공용)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타입: INT4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ZEDU##_STATUS (내 것)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ORDER_DATE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타입: DATS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REMARK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타입: CHAR 40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ERNAM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ERNAM (표준)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892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필드 2개는 Key + Initial Values 체크</a:t>
            </a:r>
            <a:endParaRPr lang="en-US" sz="1200" dirty="0"/>
          </a:p>
          <a:p>
            <a:pPr lvl="1" marL="304800" indent="-1524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타입(음영)은 해당 행에서 Predefined Type 버튼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92440" y="114300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8275320" y="1143000"/>
            <a:ext cx="3246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D1-09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Fields 탭 — 9필드 입력 완료 화면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기술설정 → 활성화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 [Technical Settings]: Data Class APPL0 · Size Category 0 → 저장, 뒤로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6)  메뉴 Extras → Enhancement Category → 'Cannot Be Enhanced' (교육용 단순화)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7)  저장 → 활성화!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11201400" cy="1463040"/>
          </a:xfrm>
          <a:prstGeom prst="roundRect">
            <a:avLst>
              <a:gd name="adj" fmla="val 5625"/>
            </a:avLst>
          </a:prstGeom>
          <a:solidFill>
            <a:srgbClr val="EAF3E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661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E7C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🎉 활성화 성공 = DB에 실제 테이블이 생긴 것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방금 이 시스템에 업무 테이블 하나를 만들었습니다 — 오늘의 최종 결과물입니다.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체크포인트 — 시작 후 25분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23444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ZEDU##_ORDER 9필드 + 기술설정 + 활성 상태여야 합니다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→ 그대로 스트럭처로 진행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 → 필드 대조표로 3분 재확인 후, 안 되면 기준 객체로 전환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1120140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51129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기준본 전환은 실패가 아닙니다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2376" y="3858768"/>
            <a:ext cx="10762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"지금은 개인 평가가 아니라 전체 흐름을 연결하는 실습입니다. 이 단계의 환경·오타 문제는 기준본으로 넘기고,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단계에서 다시 직접 작성하겠습니다."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후에도: 코드를 한 번 읽고 → 내 번호로 바꾸고 → 활성화 → 실행은 반드시 직접!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따라치기 ② — 스트럭처 ZEDU##_S_LIST (12필드)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조회 화면(ALV)에 뿌릴 "주문 + 고객명 + 제품명 + 금액" 구조를 미리 만들어 둡니다. SE11 → Data type → [Create] → Structure.</a:t>
            </a:r>
            <a:endParaRPr lang="en-US" sz="125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8778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737360"/>
                <a:gridCol w="2651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 Type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Component Type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ZEDU##_ORDID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ZEDU_PRICE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ZEDU_CUSTID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ZEDU_AMOUNT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CUST_NAME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ZEDU_CUSTNAME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ZEDU##_STATUS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PROD_ID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ZEDU_PRODID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ORDER_DATE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ZEDU_ORDDATE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PROD_NAME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ZEDU_PRODNAME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REMARK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ZEDU_REMARK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ZEDU_QTY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ERNAM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ERNAM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206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DE 참조 — ALV 컬럼 제목이 DE 라벨에서 나오기 때문!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Enhancement Category 'Cannot Be Enhanced' → 저장 → 활성화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509760" y="1691640"/>
            <a:ext cx="2194560" cy="2468880"/>
          </a:xfrm>
          <a:prstGeom prst="roundRect">
            <a:avLst>
              <a:gd name="adj" fmla="val 3750"/>
            </a:avLst>
          </a:prstGeom>
          <a:solidFill>
            <a:srgbClr val="EEF3FB"/>
          </a:solidFill>
          <a:ln/>
        </p:spPr>
      </p:sp>
      <p:sp>
        <p:nvSpPr>
          <p:cNvPr id="10" name="Text 7"/>
          <p:cNvSpPr/>
          <p:nvPr/>
        </p:nvSpPr>
        <p:spPr>
          <a:xfrm>
            <a:off x="9729216" y="1819656"/>
            <a:ext cx="1755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주의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729216" y="2167128"/>
            <a:ext cx="175564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ALV에 보일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자주 막힙니다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점검</a:t>
            </a:r>
            <a:endParaRPr lang="en-US" sz="1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152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/ 대처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MANDT 관련 키 오류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MANDT가 첫 필드·키인지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엘리먼트가 없다고 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U06 객체가 '활성'인지 + 학생 번호(##)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통화/수량 경고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교재의 지정 DE/Predefined Type과 대조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 활성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로그 첫 줄 → 키 → 기술설정 → Enhancement Category 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(내일) ALV 컬럼 제목 누락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스트럭처 필드가 DE를 참조하는지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Q08 — 개념 확인 (말/글로)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퀴즈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도메인 ↔ 데이터 엘리먼트 ↔ 테이블 필드의 역할을 한 줄씩 설명하면?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ZEDU##_ORDER와 ZEDU##_S_LIST의 결정적 차이는?  (힌트: 데이터)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"저장"만 하고 "활성화"를 안 한 테이블은 프로그램에서 쓸 수 있을까?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65760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365760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B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⏰ 시작 후 43분 — ZEDU##_S_LIST 12필드 활성 마감. 미완료 시 기준본 전환 후 U08로!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642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17:45 ~ 18:00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SE16N 데이터 확인 + 샘플 데이터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SE16N으로 테이블 데이터를 조회할 수 있다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주문 테이블에 실습 데이터 20건을 채운다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2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시간이 끝나면 할 수 있는 것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9B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 루틴 — 조회하고, 채우고, 확인한다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시연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 SE16N → ZEDU_CUST → 실행(F8) → 고객 5건 (교재 부록 B와 대조)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 ZEDU_PROD → 제품 8건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 ZEDU##_ORDER (내 것) → 0건. 당연합니다, 방금 만들었으니까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 SE38 → ZEDU_DATA_LOAD 실행 → 학생 번호 ## 입력 → "20건 생성" 메시지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 다시 SE16N → ZEDU##_ORDER → 주문 20건! 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0" y="1188720"/>
            <a:ext cx="4572000" cy="4023360"/>
          </a:xfrm>
          <a:prstGeom prst="roundRect">
            <a:avLst>
              <a:gd name="adj" fmla="val 1818"/>
            </a:avLst>
          </a:prstGeom>
          <a:solidFill>
            <a:srgbClr val="F3F6FB"/>
          </a:solidFill>
          <a:ln w="12700">
            <a:solidFill>
              <a:srgbClr val="9FB0D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0" y="1188720"/>
            <a:ext cx="4206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D1-10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SE16N — ZEDU##_ORDER 20건 조회 결과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(상태 N/C/X 혼재)</a:t>
            </a:r>
            <a:endParaRPr lang="en-US" sz="1300" dirty="0"/>
          </a:p>
          <a:p>
            <a:pPr algn="ctr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캡처 전 자리표시자 · 50_슬라이드/스크린샷_캡처목록.md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ZEDU_DATA_LOAD = 리셋 버튼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1201400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408176"/>
            <a:ext cx="10762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엉망이 되면 언제든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2376" y="1755648"/>
            <a:ext cx="1076248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ZEDU_DATA_LOAD 재실행 (초기화 옵션 체크) → 전체 삭제 후 20건 재투입</a:t>
            </a: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endParaRPr lang="en-US" sz="14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그러니 내일부터 데이터를 마음껏 지지고 볶으세요 — 망가뜨려도 됩니다!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EEF3FB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3694176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SE16N 습관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22376" y="4041648"/>
            <a:ext cx="50474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"DB에 뭐가 들었지?" 궁금하면 SE16N.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CRUD에서는 /o SE16N으로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하나를 항상 띄워 둡니다.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566160"/>
            <a:ext cx="5440680" cy="1920240"/>
          </a:xfrm>
          <a:prstGeom prst="roundRect">
            <a:avLst>
              <a:gd name="adj" fmla="val 4286"/>
            </a:avLst>
          </a:prstGeom>
          <a:solidFill>
            <a:srgbClr val="FDF3E3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3694176"/>
            <a:ext cx="5001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질문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83096" y="4041648"/>
            <a:ext cx="500176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테이블의 신규(N) 주문은 몇 건?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(SE16N에서 STATUS = N 조건으로 → 10건)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막혔을 때 — 복구 루틴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공통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737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목록 첫 줄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더블클릭 → 문제 위치로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/>
          <p:nvPr/>
        </p:nvSpPr>
        <p:spPr>
          <a:xfrm>
            <a:off x="2999232" y="1737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객체명 · ##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번호로 바꿨는지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2064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5285232" y="1737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마침표 · 따옴표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문장부터 확인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0664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EE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7571232" y="1737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디버거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언제 달라지는지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692640" y="155448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857232" y="1737360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들기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넘게 막히면!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내일부터 DB가 등장하면: 덤프 화면은 ST22, 권한 오류는 SU53, 데이터 확인은 SE16N — 나올 때 다시 소개합니다.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960120" cy="420624"/>
          </a:xfrm>
          <a:prstGeom prst="roundRect">
            <a:avLst>
              <a:gd name="adj" fmla="val 1956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— 전부 있어야 Day 2가 가능합니다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966960" y="429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2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0525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오늘 만든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ZEDU##_U01, U01Q, U02, U02Q, Q03, U03, U03Q, U04, U04Q, U05Q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ZEDU##_ORDID · ZEDU##_STATUS (고정값 N/C/X) · (퀴즈) ZEDU##_DELIV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엘리먼트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ZEDU##_ORDID · ZEDU##_STATUS · (퀴즈) ZEDU##_DELIV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ZEDU##_ORDER — 활성 + 주문 20건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스트럭처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3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ZEDU##_S_LIST — 활성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480560"/>
            <a:ext cx="11201400" cy="457200"/>
          </a:xfrm>
          <a:prstGeom prst="roundRect">
            <a:avLst>
              <a:gd name="adj" fmla="val 20000"/>
            </a:avLst>
          </a:prstGeom>
          <a:solidFill>
            <a:srgbClr val="DDE7F8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480560"/>
            <a:ext cx="10799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예고 — 이 테이블의 20건을 내부 테이블 · Open SQL · ALV로 조회 화면까지 완성합니다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5303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수고하셨습니다! 🎉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B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ABAP 기초교육 — Day 1</dc:title>
  <dc:subject>PptxGenJS Presentation</dc:subject>
  <dc:creator>ABAP 기초교육</dc:creator>
  <cp:lastModifiedBy>ABAP 기초교육</cp:lastModifiedBy>
  <cp:revision>1</cp:revision>
  <dcterms:created xsi:type="dcterms:W3CDTF">2026-07-12T14:42:10Z</dcterms:created>
  <dcterms:modified xsi:type="dcterms:W3CDTF">2026-07-12T14:42:10Z</dcterms:modified>
</cp:coreProperties>
</file>