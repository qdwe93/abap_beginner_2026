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11_교재_Day2.md; 01_커리큘럼.md; 30_강사가이드.md; 96_슬라이드_기획안.md.
Day 2 표지. 준비물: 어제 만든 ZEDU##_ORDER(주문 20건), ZEDU##_S_LIST. 오늘의 결승선: 선택화면+JOIN+금액+ALV를 갖춘 ZEDU##_LIST 완성 — 내일 Toy Project의 몸통.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11_교재_Day2.md; 01_커리큘럼.md; 30_강사가이드.md; 96_슬라이드_기획안.md.
R2는 지각자 버퍼 겸용. 준비물(주문 20건·S_LIST)이 없는 학생은 R2 시간에 즉시 복구. 오늘 결승선(ZEDU##_LIST)을 먼저 각인시킨다.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 출처: 30_강사가이드 Day2. 이유를 말하게 한다. 미복구 학생(주문 20건·S_LIST 없음)은 이 시간에 반드시 복구 — Day 2 실습의 전제.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 &gt; U09. 진행 팁: 종이에 '라인 타입 → 내부 테이블 → 워크에어리어' 세 층을 그린다. APPEND는 워크에어리어의 현재 값을 복사. CLEAR를 일부러 한 번 빼고 잔여값을 관찰.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U09; 20_퀴즈집.md &gt; U09; 30_강사가이드.md &gt; U09.
예상 질문 — Q. 내부 테이블과 DB 테이블 차이? A. 내부 테이블은 실행 중 메모리에만, DB 테이블은 데이터베이스에 지속 저장. 헤더라인은 혼란스러워 이 과정은 명시적으로 분리한다.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U09; 20_퀴즈집.md &gt; U09; 30_강사가이드.md &gt; U09.
APPEND는 워크에어리어의 '현재 값'을 복사한다는 점을 강조. sy-tabix를 데이터의 주문번호로 오해하는 것이 자주 막힘.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U09; 20_퀴즈집.md &gt; U09; 30_강사가이드.md &gt; U09.
각 덩어리 입력 후 바로 활성화. CLEAR 하나를 일부러 지워 잔여값이 섞이는 것을 관찰(💡 교재). 자주 막힘: TYPE TABLE OF를 워크에어리어에 사용, APPEND 방향 반대.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U09; 20_퀴즈집.md &gt; U09; 30_강사가이드.md &gt; U09.
표의 4가지는 강사가이드 U09 '자주 막힘'. 순회 시 이 순서로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U09; 20_퀴즈집.md &gt; U09; 30_강사가이드.md &gt; U09.
시간이 밀리면 이 슬라이드는 건너뛴다(교재에 있음). 신문법 질문이 길어지면 '보조·확장 영역'임을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U09; 20_퀴즈집.md &gt; U09; 30_강사가이드.md &gt; U09.
순회하며 CLEAR·APPEND 방향만 봐 준다. 정답은 부록 A(비노출). 빠른 학생은 D09(총수량 누적).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 &gt; U10. READ 직후 sy-subrc와 sy-tabix를 칠판에 표시. 다른 문장을 한 줄 실행해 시스템 필드가 덮이는 모습을 보여준다. 내부 테이블 DELETE와 DB DELETE를 색으로 구분.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U10; 20_퀴즈집.md &gt; U10; 30_강사가이드.md &gt; U10.
예상 질문 — Q. READ TABLE은 왜 SELECT가 아닌가? A. 이미 메모리에 있는 내부 테이블을 읽기 때문. DB 접근은 Open SQL SELECT. Q. sy-subrc는 항상 0/4? A. 명령마다 의미·값이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U10; 20_퀴즈집.md &gt; U10; 30_강사가이드.md &gt; U10.
READ 직후 sy-subrc/sy-tabix를 칠판에 표시. 다른 문장을 한 줄 실행해 시스템 필드가 덮이는 모습을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U10; 20_퀴즈집.md &gt; U10; 30_강사가이드.md &gt; U10.
MODIFY 전에 워크에어리어 값을 바꾸지 않는 실수가 잦다. SORT 후 인덱스가 바뀐다는 점을 놓치는 것도. 내부 테이블 DELETE는 DB를 바꾸지 않음(색 구분).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U10; 20_퀴즈집.md &gt; U10; 30_강사가이드.md &gt; U10.
93 검토에서 확정된 교육 포인트(퀴즈집 D10). 삭제 건수는 sy-tabix가 아니라 명시 변수(gv_deleted)에 받아 출력. WRITE에 gv_before - gv_after 같은 수식 직접 사용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U10; 20_퀴즈집.md &gt; U10; 30_강사가이드.md &gt; U10.
표 4가지는 강사가이드 U10 '자주 막힘'.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U10; 20_퀴즈집.md &gt; U10; 30_강사가이드.md &gt; U10.
gt[...]가 없는 행이면 덤프라는 점을 강조 — line_exists와 짝. 오늘 실습은 classic.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U10; 20_퀴즈집.md &gt; U10; 30_강사가이드.md &gt; U10.
정답 비노출. TODO 3은 D10 규칙 확인 지점. 빠른 학생은 D10.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 &gt; U11. 점심 전: DB↔내부테이블 연결/SELECT SINGLE/INTO TABLE·WHERE/sy-subrc·sy-dbcnt. 점심 후: Q11 스켈레톤을 바로 실행하게 하고 TODO부터. 오전 개념을 다시 강의하지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U11; 20_퀴즈집.md &gt; U11; 30_강사가이드.md &gt; U11.
예상 질문 — Q. SELECT SINGLE에 키가 아닌 조건? A. 문법 오류는 아닐 수 있으나 어떤 한 건이 선택될지 불명확. 고유 키 조건을 우선. INTO 대상 타입 불일치가 자주 막힘.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U11; 20_퀴즈집.md &gt; U11; 30_강사가이드.md &gt; U11.
자주 막힘: 문자열 ID의 길이·0 개수 오타. SELECT 후 다른 문장을 실행한 뒤 sy-subrc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U11; 20_퀴즈집.md &gt; U11; 30_강사가이드.md &gt; U11.
ENDSELECT는 읽기용. 강조: 신규 코드는 집합 조회 우선.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U11; 20_퀴즈집.md &gt; U11; 30_강사가이드.md &gt; U11.
콤마/@/인라인 3대 표식. classic과 결과는 같다.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11_교재_Day2.md; 01_커리큘럼.md; 30_강사가이드.md; 96_슬라이드_기획안.md.
점심 후 Q11 스켈레톤을 바로 실행하게 하고 TODO 1부터 해결. 오전 개념 재강의 없음(강사가이드).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U11; 20_퀴즈집.md &gt; U11; 30_강사가이드.md &gt; U11.
정답 비노출. sy-subrc 분기가 핵심. 빠른 학생은 D11.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 &gt; U12. JOIN 전에 '주문에는 이름이 없다'는 문제를 먼저 제시. 별칭 a~/b~/c~를 표의 색과 맞춘다. FOR ALL ENTRIES는 빈 원본 테이블의 위험만 소개하고 실습하지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U12; 20_퀴즈집.md &gt; U12; 30_강사가이드.md &gt; U12.
예상 질문 — Q. INNER JOIN에서 마스터가 없으면 주문이 나오나? A. 나오지 않음. 한쪽이 없어도 보여야 하면 LEFT OUTER JOIN 검토. JOIN 결과 행 수가 줄면 마스터 누락 가능성.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U12; 20_퀴즈집.md &gt; U12; 30_강사가이드.md &gt; U12.
별칭을 표의 색과 맞춘다. 같은 필드명을 별칭 없이 쓰는 것, CORRESPONDING인데 결과 구조 필드명이 다른 것이 자주 막힘.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U12; 20_퀴즈집.md &gt; U12; 30_강사가이드.md &gt; U12.
집계하지 않은 필드를 GROUP BY에 빠뜨리는 것, UP TO와 ORDER BY 위치 오타가 자주 막힘.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U12; 20_퀴즈집.md &gt; U12; 30_강사가이드.md &gt; U12.
퀴즈집 D12 확정 패턴. ORDER BY에 집계함수를 직접 쓰지 않고 SELECT 목록의 AS 별칭으로 정렬. 동률의 표시 순서는 DB에 따라 달라질 수 있어 보조 정렬 기준을 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U12; 20_퀴즈집.md &gt; U12; 30_강사가이드.md &gt; U12.
FOR ALL ENTRIES는 빈 원본 테이블의 위험만 소개하고 실습하지 않는다. 신문법 세계에서는 JOIN/CDS로 대체 추세.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U12; 20_퀴즈집.md &gt; U12; 30_강사가이드.md &gt; U12.
classic JOIN과 결과 동일. 표식만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U12; 20_퀴즈집.md &gt; U12; 30_강사가이드.md &gt; U12.
정답 비노출. D12는 방금 배운 별칭 정렬을 응용.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 &gt; U13. SELECT-OPTIONS를 화면 요소이자 내부 테이블로 동시에 설명. 복수선택 창에서 포함/제외 탭을 직접 연다. 선택 텍스트를 붙이기 전·후를 비교.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U13; 20_퀴즈집.md &gt; U13; 30_강사가이드.md &gt; U13.
SELECT-OPTIONS를 화면 요소이자 내부 테이블로 동시에 설명. 예상 질문 — Q. SELECT-OPTIONS가 비면 왜 전체? A. 제한 조건이 없는 것으로 해석. PARAMETERS 초기값과 동작이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U13; 20_퀴즈집.md &gt; U13; 30_강사가이드.md &gt; U13.
FOR 뒤에 타입명을 직접 쓰는 실수(참조 필드가 필요). SELECT-OPTIONS에 = 사용(IN을 써야). 빈 PARAMETERS를 WHERE에 바로 넣어 0건 조회.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U13; 20_퀴즈집.md &gt; U13; 30_강사가이드.md &gt; U13.
선택 텍스트를 붙이기 전·후를 비교. Selection Texts 저장 후 프로그램 활성화 누락이 자주 막힘. F4 도메인 고정값은 어제 U06 도메인 설계의 보상.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U13; 20_퀴즈집.md &gt; U13; 30_강사가이드.md &gt; U13.
표 4가지는 강사가이드 U13 '자주 막힘'.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U13; 20_퀴즈집.md &gt; U13; 30_강사가이드.md &gt; U13.
정답 비노출. TODO 3은 화면 조작(복수 선택). 빠른 학생은 D13.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U13; 20_퀴즈집.md &gt; U13; 30_강사가이드.md &gt; U13.
U09~U13이 종합실습의 재료임을 각인. U14(언제)·U15(어떻게)가 남았다.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 &gt; U14. 화면에 이벤트 순서를 계속 표시한다. INITIALIZATION=기본값, AT SELECTION-SCREEN=입력 검증, START-OF-SELECTION=본 처리. 이벤트 블록을 FORM처럼 호출하려는 실수가 잦다.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U14; 20_퀴즈집.md &gt; U14; 30_강사가이드.md &gt; U14.
화면에 이 순서를 계속 표시. 예상 질문 — Q. 이벤트 순서는 소스에 쓴 순서인가? A. 리포트 런타임 이벤트 순서가 정한다. 읽기 쉽도록 통상 실행 순서대로 배치.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U14; 20_퀴즈집.md &gt; U14; 30_강사가이드.md &gt; U14.
SELECT-OPTIONS 기본 행을 채우고 APPEND 누락이 자주 막힘. INITIALIZATION은 선택화면 표시 전 1회.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U14; 20_퀴즈집.md &gt; U14; 30_강사가이드.md &gt; U14.
E 메시지를 START-OF-SELECTION에서 쓰고 선택화면 복귀를 기대하는 실수가 잦다. 위치별 행동 차이는 Day 3 U18/버튼 로직의 기초.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U14; 20_퀴즈집.md &gt; U14; 30_강사가이드.md &gt; U14.
표 3가지는 강사가이드 U14 '자주 막힘'.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U14; 20_퀴즈집.md &gt; U14; 30_강사가이드.md &gt; U14.
정답 비노출. 검증이 선택화면에 머물러야 하므로 AT SELECTION-SCREEN. 빠른 학생은 D14.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 &gt; U15. 시간: 5분 FORM/PERFORM 선행 → 10분 ALV 목적·표준 기능 → 25분 JOIN·금액·ALV 호출 → 10분 정렬/필터/합계/엑셀 체험 → 10분 Q15. i_structure_name이 DDIC 라벨을 필드 카탈로그로 바꿔준다. 본 과정은 의도적으로 REUSE_ALV_GRID_DISPLAY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U15; 20_퀴즈집.md &gt; U15; 30_강사가이드.md &gt; U15.
ALV가 콜백(FORM 호출) 방식이라 FORM/PERFORM을 먼저 5분. 파라미터 전달은 내일.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U15; 20_퀴즈집.md &gt; U15; 30_강사가이드.md &gt; U15.
예상 질문 — Q. REUSE ALV는 오래된 기술 아닌가? A. 클래식 코드에서 여전히 많이 만나며 콜백 구조 학습에 좋다. 신규는 프로젝트 기준에 따라 SALV/OO ALV/Fiori 검토.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U15; 20_퀴즈집.md &gt; U15; 30_강사가이드.md &gt; U15.
금액은 DB에 없는 계산 필드. LOOP + MODIFY TRANSPORTING로 채운다. MODIFY 누락 주의. gt_list는 어제 만든 ZEDU##_S_LIST 스트럭처.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U15; 20_퀴즈집.md &gt; U15; 30_강사가이드.md &gt; U15.
TYPE-POOLS: slis. 누락, DDIC 스트럭처 이름의 학생 번호 오타, ALV 호출 오류 sy-subrc 미확인이 자주 막힘.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U15; 20_퀴즈집.md &gt; U15; 30_강사가이드.md &gt; U15.
i_structure_name이 DDIC 라벨을 필드 카탈로그로 바꿔준다. 필드 카탈로그를 직접 만들지 않는 이유: 첫 과정 분량 보호 + DDIC 재사용 효과. do_sum 같은 확장은 퀴즈집.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U15; 20_퀴즈집.md &gt; U15; 30_강사가이드.md &gt; U15.
한글 컬럼은 어제 DE 라벨의 결과. 합계는 AMOUNT에. i_structure_name 제거 시 오류를 직접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U15; 20_퀴즈집.md &gt; U15; 30_강사가이드.md &gt; U15.
SALV는 보조 박스이며 TRY/CATCH를 포함해야 안전. OO ABAP을 배우면 첫 실전 상대.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U15; 20_퀴즈집.md &gt; U15; 30_강사가이드.md &gt; U15.
정답 비노출. 정렬은 호출 전 SORT. 빠른 학생은 D15(do_sum).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11_교재_Day2.md; 01_커리큘럼.md; 30_강사가이드.md; 96_슬라이드_기획안.md.
오늘의 결승선. 미완료 상태로 퇴실시키지 않는다. 필요시 완성 FORM get_data 조각을 제공하고 학생이 직접 붙여 활성화.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종합실습 ②; 30_강사가이드.md &gt; 종합실습②.
TODO는 get_data 세 곳뿐. 각 TODO가 오늘 배운 유닛과 1:1. 완성 코드는 부록 A(비노출).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종합실습 ②; 30_강사가이드.md &gt; 종합실습②.
체크포인트는 강사가이드 종합실습② 표. 종합실습②는 '절대 줄이지 않을 구간'. 시점마다 순회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 &gt; 종합실습 ②; 30_강사가이드.md &gt; 종합실습②.
복구 우선순위는 강사가이드. 미완료 학생에겐 완성 FORM get_data 조각 제공 후 직접 붙여 활성화. 이 프로그램은 Day 3에 LIST→U19→MAIN으로 복사.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11_교재_Day2.md; 01_커리큘럼.md; 30_강사가이드.md; 96_슬라이드_기획안.md.
체크리스트 미달(특히 ZEDU##_LIST 미완성)은 Day 3 아침 09:00 전 개별 복구. 종합실습②는 Day 3 프로그램 복사 체인의 출발점.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11_교재_Day2.md; 01_커리큘럼.md; 30_강사가이드.md; 96_슬라이드_기획안.md.
내일 예고: FM → CRUD → 버튼 → 완성. 오늘의 ZEDU##_LIST가 ZEDU##_MAIN의 몸통.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2881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ABAP 기초교육 · Day 2 — 내부 테이블 · Open SQL · 리포트 구조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ABAP 3일 기초교육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테이블 · Open SQL · 리포트 프로그램의 구조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내부테이블 · READ/SORT · SELECT · JOIN · 선택화면 · 이벤트 · ALV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9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 ____________     강사 ____________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인트로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지도 · 오늘의 결승선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3749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유닛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09:00~09:15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복습 퀴즈 + Day 1 객체 점검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09:15~11:10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U09·U10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테이블 ①② (APPEND·LOOP·READ·SORT)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11:20~13:20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SQL ① SELECT (퀴즈는 점심 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13:20~15:10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U12·U13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JOIN·집계 / 선택화면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15:25~16:05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리포트 이벤트 흐름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16:15~17:15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U15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ALV 출력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17:15~18:00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종합실습②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ZEDU##_LIST 완성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097280"/>
            <a:ext cx="4297680" cy="2468880"/>
          </a:xfrm>
          <a:prstGeom prst="roundRect">
            <a:avLst>
              <a:gd name="adj" fmla="val 3333"/>
            </a:avLst>
          </a:prstGeom>
          <a:solidFill>
            <a:srgbClr val="FDF3E3"/>
          </a:solidFill>
          <a:ln/>
        </p:spPr>
      </p:sp>
      <p:sp>
        <p:nvSpPr>
          <p:cNvPr id="8" name="Text 5"/>
          <p:cNvSpPr/>
          <p:nvPr/>
        </p:nvSpPr>
        <p:spPr>
          <a:xfrm>
            <a:off x="7626096" y="1225296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결승선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626096" y="1572768"/>
            <a:ext cx="385876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ZEDU##_LIST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선택화면 + JOIN + 금액 계산 + ALV를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프로그램에 조립합니다.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프로그램이 그대로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Toy Project의 몸통이 됩니다.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6640" y="3794760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11" name="Text 8"/>
          <p:cNvSpPr/>
          <p:nvPr/>
        </p:nvSpPr>
        <p:spPr>
          <a:xfrm>
            <a:off x="7607808" y="379476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준비물: ZEDU##_ORDER(20건)·S_LIST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475488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20건을 내부 테이블·Open SQL·ALV로 조회 화면까지 끌고 갑니다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sy-subrc 확인 습관은 오늘부터 몸에 새깁니다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퀴즈 R2 — 어제를 확인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 어제 프로그램을 수정하고 저장만 했다. 실행하면 반영될까?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 도메인과 데이터 엘리먼트의 역할 차이를 한 줄로?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 다음 출력은?  DO 3 TIMES. WRITE / sy-index. ENDDO.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 (실기) SE16N으로 내 주문 테이블의 상태 'N' 건수를 세기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234440"/>
            <a:ext cx="4069080" cy="2331720"/>
          </a:xfrm>
          <a:prstGeom prst="roundRect">
            <a:avLst>
              <a:gd name="adj" fmla="val 3529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7854696" y="1362456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부록 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54696" y="1709928"/>
            <a:ext cx="363016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발표보다 "왜"를 말하게 합니다.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 풀이 → 5분은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객체 확인에 사용.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2062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42062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20건 또는 ZEDU##_S_LIST가 없는 학생은 지금 즉시 복구합니다 (오늘 전체의 전제)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09:15 ~ 10:05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테이블 ① 선언·APPEND·LOOP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타입 / 워크에어리어 / 내부 테이블의 관계를 이해한다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APPEND로 행을 쌓고 LOOP로 꺼낼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ZEDU##_U09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테이블 vs DB 테이블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EEF3FB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31673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테이블  (gt_)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2376" y="1664208"/>
            <a:ext cx="504748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메모리 안의 엑셀 시트.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프로그램이 끝나면 사라집니다.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SELECT의 그릇 · 가공의 작업대.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FDF3E3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131673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테이블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37376" y="1664208"/>
            <a:ext cx="504748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데이터베이스에 영구 저장.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만든 ZEDU##_ORDER가 이것.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프로그램이 끝나도 남습니다.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384048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ABAP 프로그래밍의 90% = "DB에서 읽어와 → 내부 테이블에서 가공 → 출력"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46177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손으로 채운 내부 테이블로 연습 → U11부터 DB에서 읽어 채웁니다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층: 라인타입 · 워크에어리어 · 내부테이블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접두어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 ty_order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행의 설계도 (라인 타입)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ty_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  gs_order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1개짜리 변수 (워크에어리어)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gs_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  gt_order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여러 개 (내부 테이블)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gt_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2971800"/>
            <a:ext cx="6766560" cy="2011680"/>
          </a:xfrm>
          <a:prstGeom prst="roundRect">
            <a:avLst>
              <a:gd name="adj" fmla="val 3182"/>
            </a:avLst>
          </a:prstGeom>
          <a:solidFill>
            <a:srgbClr val="151B33"/>
          </a:solidFill>
          <a:ln/>
        </p:spPr>
      </p:sp>
      <p:sp>
        <p:nvSpPr>
          <p:cNvPr id="8" name="Text 5"/>
          <p:cNvSpPr/>
          <p:nvPr/>
        </p:nvSpPr>
        <p:spPr>
          <a:xfrm>
            <a:off x="740664" y="30998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행을 쌓고 꺼내기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0664" y="3410712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 gs_order TO gt_order.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맨 뒤에 복사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gt_order INTO gs_order.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한 행씩 꺼냄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WRITE: / sy-tabix, gs_order-order_id.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0" y="1188720"/>
            <a:ext cx="4206240" cy="3794760"/>
          </a:xfrm>
          <a:prstGeom prst="roundRect">
            <a:avLst>
              <a:gd name="adj" fmla="val 2169"/>
            </a:avLst>
          </a:prstGeom>
          <a:solidFill>
            <a:srgbClr val="EEF3FB"/>
          </a:solidFill>
          <a:ln/>
        </p:spPr>
      </p:sp>
      <p:sp>
        <p:nvSpPr>
          <p:cNvPr id="11" name="Text 8"/>
          <p:cNvSpPr/>
          <p:nvPr/>
        </p:nvSpPr>
        <p:spPr>
          <a:xfrm>
            <a:off x="7717536" y="13167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17536" y="1664208"/>
            <a:ext cx="3767328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 = 워크에어리어의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값을 복사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 중 sy-tabix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현재 행 번호(순번)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주문번호가 아닙니다!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WHERE로 조건도 걸 수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있습니다: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 AT gt INTO gs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WHERE status = 'N'.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— ZEDU##_U09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7315200" cy="4160520"/>
          </a:xfrm>
          <a:prstGeom prst="roundRect">
            <a:avLst>
              <a:gd name="adj" fmla="val 1538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2710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채우기 → APPEND → LOOP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6858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gs_order-order_id = 1.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gs_order-prod_id  = 'P0000003'.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gs_order-quantity = 10.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gs_order-status   = 'N'.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 gs_order TO gt_order.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gs_order.         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★ APPEND 전 CLEAR 습관!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gt_order INTO gs_order WHERE status = 'N'.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WRITE: / gs_order-order_id, gs_order-prod_id.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TABLE gt_order LINES gv_lines.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01000" y="114300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0456" y="1271016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 U09 💻 절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0456" y="1618488"/>
            <a:ext cx="326440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 → 내부 테이블/WA →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APPEND(3건) → 전체 LOOP →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LOOP → DESCRIBE 건수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덩어리 입력 → 활성화 리듬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3474720"/>
            <a:ext cx="370332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02168" y="3474720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완료: 3건 출력 + 신규 1건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자주 막힙니다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14300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CLEAR gs_order를 하나 지우고 실행 → 이전 행 값이 남아 섞입니다 (실무 최다 버그)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2014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629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/ 해결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 TABLE OF 를 워크에어리어에 사용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워크에어리어는 라인 타입(ty_order)으로 선언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APPEND 방향이 반대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APPEND gs_order TO gt_order (워크 → 테이블)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sy-tabix가 주문번호와 다르다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sy-tabix는 LOOP의 행 순번일 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LOOP 안에서 잘못된 구조명 사용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INTO 대상 워크에어리어 이름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모던 ABAP으로는 이렇게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참고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680960" cy="3200400"/>
          </a:xfrm>
          <a:prstGeom prst="roundRect">
            <a:avLst>
              <a:gd name="adj" fmla="val 2000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62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 #( ) + 인라인 선언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73352"/>
            <a:ext cx="7223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DATA(lt_order) = VALUE ty_order_tab(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 order_id = 1  prod_id = 'P0000003'  quantity = 10  status = 'N' 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 order_id = 2  prod_id = 'P0000001'  quantity = 2   status = 'C' ) ).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lt_order INTO DATA(ls_order).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워크에어리어 인라인 선언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WRITE: / ls_order-order_id.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 #( ... )로 선언과 데이터 구성이 한 문장으로 끝납니다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 본문은 classic(APPEND). ✨는 "실무 신규 코드의 모습" 소개용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Q09 — 재고 목록 만들기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ZEDU##_U09Q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(스켈레톤 제공 — TODO만 작성)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7223760" cy="2743200"/>
          </a:xfrm>
          <a:prstGeom prst="roundRect">
            <a:avLst>
              <a:gd name="adj" fmla="val 2333"/>
            </a:avLst>
          </a:prstGeom>
          <a:solidFill>
            <a:srgbClr val="151B33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77393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" y="2084832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1: 아래 5건을 APPEND 하세요.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P0000001/3, P0000002/15, P0000003/8,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P0000004/25, P0000005/12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2: LOOP로 수량이 10 이상인 행만 출력하세요.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(LOOP ... WHERE 또는 LOOP + IF)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01000" y="1645920"/>
            <a:ext cx="3703320" cy="1371600"/>
          </a:xfrm>
          <a:prstGeom prst="roundRect">
            <a:avLst>
              <a:gd name="adj" fmla="val 4667"/>
            </a:avLst>
          </a:prstGeom>
          <a:solidFill>
            <a:srgbClr val="F4F6F4"/>
          </a:solidFill>
          <a:ln w="9525">
            <a:solidFill>
              <a:srgbClr val="BCC8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783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[기대 결과]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P0000002 15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P0000004 25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P0000005 12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01000" y="3200400"/>
            <a:ext cx="3703320" cy="1188720"/>
          </a:xfrm>
          <a:prstGeom prst="roundRect">
            <a:avLst>
              <a:gd name="adj" fmla="val 6923"/>
            </a:avLst>
          </a:prstGeom>
          <a:solidFill>
            <a:srgbClr val="FDF3E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456" y="3328416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0456" y="3675888"/>
            <a:ext cx="3264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D09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(어려웠다면 E09) · 정답은 부록 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6634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6634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 전 CLEAR 습관 유지 — 잔여값이 섞이면 결과가 달라집니다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10:20 ~ 11:10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테이블 ② READ·SORT·MODIFY·DELETE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TABLE로 행을 찾고 sy-subrc / sy-tabix를 해석할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 / MODIFY / DELETE / CLEAR로 내부 테이블을 조작할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ZEDU##_U10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테이블 조작 문장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2004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 TABLE gt INTO gs WITH KEY f = 값.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조건으로 한 행 찾기 (첫 매칭)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 TABLE gt INTO gs INDEX n.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n번째 행 읽기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 gt BY f1 [DESCENDING] f2.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MODIFY gt FROM gs INDEX n.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n번째 행을 gs 내용으로 교체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gt WHERE 조건.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삭제 (조건 / INDEX)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CLEAR gt.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전부 비우기 (옛 REFRESH gt.)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188720"/>
            <a:ext cx="3291840" cy="3657600"/>
          </a:xfrm>
          <a:prstGeom prst="roundRect">
            <a:avLst>
              <a:gd name="adj" fmla="val 2500"/>
            </a:avLst>
          </a:prstGeom>
          <a:solidFill>
            <a:srgbClr val="FDF3E3"/>
          </a:solidFill>
          <a:ln/>
        </p:spPr>
      </p:sp>
      <p:sp>
        <p:nvSpPr>
          <p:cNvPr id="8" name="Text 5"/>
          <p:cNvSpPr/>
          <p:nvPr/>
        </p:nvSpPr>
        <p:spPr>
          <a:xfrm>
            <a:off x="8631936" y="1316736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sy-subrc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31936" y="1664208"/>
            <a:ext cx="2852928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"직전 명령이 성공했나?"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이면 성공.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READ·SELECT 등 수많은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명령이 결과를 여기 남깁니다.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후에는 반드시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sy-subrc 확인 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오늘부터 몸에 새길 습관!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직후 — sy-subrc · sy-tabix 시점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6949440" cy="2880360"/>
          </a:xfrm>
          <a:prstGeom prst="roundRect">
            <a:avLst>
              <a:gd name="adj" fmla="val 2222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성공했을 때만 sy-tabix가 의미 있다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6492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TABLE gt_order INTO gs_order WITH KEY order_id = 2.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sy-subrc = 0.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WRITE: / '찾음! 행번호:', sy-tabix, '/ 제품:', gs_order-prod_id.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 / '해당 주문 없음'.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80960" y="1188720"/>
            <a:ext cx="4023360" cy="2880360"/>
          </a:xfrm>
          <a:prstGeom prst="roundRect">
            <a:avLst>
              <a:gd name="adj" fmla="val 2857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7900416" y="1316736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00416" y="1664208"/>
            <a:ext cx="3584448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READ가 실패했는데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sy-tabix를 쓰면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엉뚱한 행을 건드립니다.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CRUD에서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습관이 사고를 막습니다.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429768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READ 직후 다른 명령을 실행하면 sy-tabix / sy-subrc가 덮어써집니다 — 바로 쓰거나 변수에 보관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— SORT · MODIFY · DELETE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7406640" cy="4114800"/>
          </a:xfrm>
          <a:prstGeom prst="roundRect">
            <a:avLst>
              <a:gd name="adj" fmla="val 1556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2710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READ가 남긴 행번호를 MODIFY에 재사용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gt_order BY quantity DESCENDING.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TABLE gt_order INTO gs_order WITH KEY order_id = 2.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sy-subrc = 0.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gs_order-quantity = 99.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MODIFY gt_order FROM gs_order INDEX sy-tabix.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gt_order WHERE status = 'X'.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gt_order.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전부 비우기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92440" y="114300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311896" y="127101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(1)~(3) 데이터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11896" y="1618488"/>
            <a:ext cx="317296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TYPES~APPEND 부분은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ZEDU##_U09에서 복사해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옵니다 (gv_lines 선언 포함).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 후에는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인덱스가 바뀝니다 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MODIFY는 READ가 막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sy-tabix로.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목록에 수식을 쓸 수 없다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위험 패턴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FBEBE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89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활성화 실패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TABLE gt_order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LINES gv_before.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gt_order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status = 'X'.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... LINES gv_after.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/ '삭제 건수:',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gv_before - gv_after.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목록에는 데이터 객체(변수)만!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EAF3E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389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변수에 먼저 계산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84708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gv_deleted =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gv_before - gv_after.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/ '삭제 건수:',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gv_deleted.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37960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→ 변수 → 출력. 항상 이 순서!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0233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건수도 gv_deleted에 먼저 계산 — U02의 "WRITE엔 변수만" 규칙이 D10에서 다시 등장합니다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자주 막힙니다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2636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/ 해결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READ 실패 후에도 sy-tabix 사용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IF sy-subrc = 0 안에서만 sy-tabix 사용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MODIFY 전에 워크에어리어 값을 안 바꿈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gs의 필드를 바꾼 뒤 MODIFY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SORT 후 행 인덱스가 바뀐 걸 놓침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 뒤의 INDEX는 새 순서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CLEAR gt_order 와 CLEAR gs_order 혼동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gt=테이블 전체 / gs=워크에어리어 한 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9776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39776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→ sy-subrc 확인 → (성공 시) sy-tabix 사용 — 이 순서를 3일 내내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모던 ABAP으로는 이렇게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참고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680960" cy="2286000"/>
          </a:xfrm>
          <a:prstGeom prst="roundRect">
            <a:avLst>
              <a:gd name="adj" fmla="val 2800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62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표현식 + line_exists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73352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line_exists( gt_order[ order_id = 2 ] ).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존재 확인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DATA(ls_found) = gt_order[ order_id = 2 ].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행 읽기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 / lines( gt_order ).            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건수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gt[ ... ]는 없는 행이면 예외(덤프) — 그래서 line_exists( )와 짝으로 씁니다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 READ + sy-subrc 확인과 정확히 같은 방어를 문법으로 표현한 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Q10 — 주문 정리하기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ZEDU##_U10Q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(주문 5건 APPEND까지 완성 상태로 제공)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7406640" cy="2743200"/>
          </a:xfrm>
          <a:prstGeom prst="roundRect">
            <a:avLst>
              <a:gd name="adj" fmla="val 2333"/>
            </a:avLst>
          </a:prstGeom>
          <a:solidFill>
            <a:srgbClr val="151B33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77393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" y="2084832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1: 수량 내림차순으로 정렬 후 전체 출력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2: order_id = 4 인 행을 READ해서 수량을 50으로 변경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(sy-subrc 확인 포함)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3: 상태 'X' 행을 삭제하고, 삭제 전/후 건수를 출력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92440" y="164592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8311896" y="177393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11896" y="2121408"/>
            <a:ext cx="317296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D10 (정렬 후 취소 제거)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어려웠다면 E10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부록 A 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보지 않기!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6634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3의 건수 출력 — 방금 배운 규칙(WRITE엔 수식 금지)을 그대로 적용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11:20 ~ 12:00  /  13:00 ~ 13:20 (퀴즈)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SQL ① SELECT 기초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SINGLE / SELECT ... INTO TABLE로 DB를 조회할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WHERE로 조건을 걸고 sy-subrc / sy-dbcnt를 확인할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SQL — DB에서 읽어오기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SQL = ABAP 안에서 쓰는 SQL. DB 종류(HANA·Oracle...)와 무관하게 동일하게 동작합니다.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7498080" cy="1691640"/>
          </a:xfrm>
          <a:prstGeom prst="roundRect">
            <a:avLst>
              <a:gd name="adj" fmla="val 3784"/>
            </a:avLst>
          </a:prstGeom>
          <a:solidFill>
            <a:srgbClr val="151B33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7282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형태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" y="2039112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SINGLE * FROM 테이블 INTO wa    WHERE 키 = 값.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딱 1건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       FROM 테이블 INTO TABLE itab WHERE 조건.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여러 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EEF3FB"/>
          </a:solidFill>
          <a:ln/>
        </p:spPr>
      </p:sp>
      <p:sp>
        <p:nvSpPr>
          <p:cNvPr id="11" name="Text 9"/>
          <p:cNvSpPr/>
          <p:nvPr/>
        </p:nvSpPr>
        <p:spPr>
          <a:xfrm>
            <a:off x="8449056" y="1728216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49056" y="2075688"/>
            <a:ext cx="303580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sy-subrc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성공 / 4 결과 없음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sy-dbcnt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읽은 건수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61188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배운 내부 테이블이 바로 SELECT의 그릇이 됩니다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SINGLE은 키 전체를 지정해 1건을 특정할 때 쓰는 것이 정석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행은 INTO TABLE로 받고 LOOP로 처리합니다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— SELECT SINGLE · INTO TABLE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7589520" cy="4114800"/>
          </a:xfrm>
          <a:prstGeom prst="roundRect">
            <a:avLst>
              <a:gd name="adj" fmla="val 1556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2710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ZEDU##_U11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7132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SINGLE * FROM zedu_prod INTO gs_prod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prod_id = 'P0000001'.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sy-subrc = 0.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WRITE: / gs_prod-prod_id, gs_prod-prod_name, gs_prod-price.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 / '제품이 없습니다.'.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zedu##_order INTO TABLE gt_order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status = 'N'.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/ '내 신규 주문:', sy-dbcnt, '건'.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75320" y="1143000"/>
            <a:ext cx="3429000" cy="4114800"/>
          </a:xfrm>
          <a:prstGeom prst="roundRect">
            <a:avLst>
              <a:gd name="adj" fmla="val 2400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494776" y="127101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포인트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94776" y="1618488"/>
            <a:ext cx="299008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SINGLE은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sy-subrc로 존재 확인.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INTO TABLE 다음엔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sy-dbcnt로 건수.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ID의 길이·0 개수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오타를 조심 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'P0000001'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옛 코드 ENDSELECT · 자주 막힘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DF3E3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31673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옛 코드에서 만나게 될 것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2376" y="1664208"/>
            <a:ext cx="5047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* FROM ... 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...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ENDSELECT.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단위 처리라 집합 처리보다 불리하고 코드도 장황. 신규는 INTO TABLE + LOOP를 우선 (읽을 줄만 알면 됩니다).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/ 해결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INTO 대상 타입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받을 구조/테이블 타입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문장 뒤 sy-subrc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 직후 바로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문자열 ID 길이·0 개수 오타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'P0000001' 자릿수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37947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" y="37947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... ENDSELECT는 "읽을 수 있으면 충분" — 신규 코드는 집합 조회(INTO TABLE)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모던 ABAP — New Open SQL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참고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863840" cy="2377440"/>
          </a:xfrm>
          <a:prstGeom prst="roundRect">
            <a:avLst>
              <a:gd name="adj" fmla="val 2692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624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콤마 · @호스트변수 · 인라인 선언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73352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prod_id, prod_name, price    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① 필드는 콤마로 구분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zedu_prod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price &gt;= @gv_min_price       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② ABAP 변수 앞에 @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TABLE @DATA(lt_prod).         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③ 인라인 선언 + INTO 맨 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콤마 · @ · 인라인 선언이 new Open SQL의 3대 표식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S/4 표준 코드를 읽을 때 반드시 만나게 됩니다 — 오늘 실습 본문은 classic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점심시간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12:00 ~ 13:00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첫 순서 — Q11부터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D9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후에는 오전 개념을 다시 강의하지 않습니다.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Q11 스켈레톤을 바로 실행하고 TODO 1부터 → 이어서 U12 JOIN·집계.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Q11 — SELECT 연습 (점심 후)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0515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13:00 ~ 13:20 · 오전 개념 재강의 없음 — 스켈레톤을 바로 실행합니다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7406640" cy="2743200"/>
          </a:xfrm>
          <a:prstGeom prst="roundRect">
            <a:avLst>
              <a:gd name="adj" fmla="val 2333"/>
            </a:avLst>
          </a:prstGeom>
          <a:solidFill>
            <a:srgbClr val="151B33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81965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ZEDU##_U11Q — TODO 2개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" y="2130552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1: 내 주문 중 수량 5 이상을 INTO TABLE로 조회해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건수와 목록(주문번호/제품ID/수량)을 출력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2: SELECT SINGLE로 고객 C00003의 고객명을 조회·출력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C99999로 바꾸면 "고객 없음"이 나오게 sy-subrc 처리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2440" y="169164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DF3E3"/>
          </a:solidFill>
          <a:ln/>
        </p:spPr>
      </p:sp>
      <p:sp>
        <p:nvSpPr>
          <p:cNvPr id="12" name="Text 10"/>
          <p:cNvSpPr/>
          <p:nvPr/>
        </p:nvSpPr>
        <p:spPr>
          <a:xfrm>
            <a:off x="8311896" y="181965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11896" y="2167128"/>
            <a:ext cx="317296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D11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(어려웠다면 E11)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부록 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7091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 — 없는 고객(C99999)은 sy-subrc &lt;&gt; 0으로 분기해 메시지 처리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13:20 ~ 14:10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SQL ② JOIN과 집계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 JOIN으로 여러 테이블을 한 번에 조회할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COUNT/SUM, GROUP BY, ORDER BY, UP TO n ROWS를 쓸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ZEDU##_U12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 JOIN — 주문엔 이름이 없다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테이블에는 고객 "ID"만 있습니다. 고객 "이름"은 ZEDU_CUST에 있죠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테이블을 붙여서 한 번에 가져오는 것이 JOIN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7680960" cy="1417320"/>
          </a:xfrm>
          <a:prstGeom prst="roundRect">
            <a:avLst>
              <a:gd name="adj" fmla="val 4516"/>
            </a:avLst>
          </a:prstGeom>
          <a:solidFill>
            <a:srgbClr val="151B33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24140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별칭~필드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" y="2724912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zedu##_order AS a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zedu_cust AS b ON a~cust_id = b~cust_id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a~ : 별칭~필드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366760" y="2286000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EEF3FB"/>
          </a:solidFill>
          <a:ln/>
        </p:spPr>
      </p:sp>
      <p:sp>
        <p:nvSpPr>
          <p:cNvPr id="11" name="Text 9"/>
          <p:cNvSpPr/>
          <p:nvPr/>
        </p:nvSpPr>
        <p:spPr>
          <a:xfrm>
            <a:off x="8586216" y="241401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 JOIN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86216" y="2761488"/>
            <a:ext cx="289864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 다 있는 것만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 나옴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0233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0233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한쪽만 있어도 결과에 넣으려면 LEFT OUTER JOIN (소개만) · 마스터가 없으면 그 주문은 빠집니다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① — 3-테이블 INNER JOIN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589520" cy="3200400"/>
          </a:xfrm>
          <a:prstGeom prst="roundRect">
            <a:avLst>
              <a:gd name="adj" fmla="val 2000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+ 고객명 + 제품명/단가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7132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a~order_id b~cust_name c~prod_name a~quantity c~price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zedu##_order AS a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INNER JOIN zedu_cust AS b ON a~cust_id = b~cust_id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INNER JOIN zedu_prod AS c ON a~prod_id = c~prod_id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CORRESPONDING FIELDS OF TABLE gt_list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a~status = 'N'.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75320" y="118872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494776" y="131673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CORRESPONDING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94776" y="1664208"/>
            <a:ext cx="299008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INTO CORRESPONDING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FIELDS OF TABLE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필드 이름이 같은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곳에 넣기.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 맞으면 순서가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달라도 안전.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다르면 그 필드는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있게 됨 (오타 주의).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452628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별칭 a~/b~/c~로 어느 테이블 필드인지 명시 — 같은 필드명을 별칭 없이 쓰면 오류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② — COUNT · GROUP BY · TOP 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589520" cy="3977640"/>
          </a:xfrm>
          <a:prstGeom prst="roundRect">
            <a:avLst>
              <a:gd name="adj" fmla="val 1609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· 그룹 · 정렬+상위 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7132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 * ) FROM zedu##_order INTO gv_cnt.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status COUNT( * 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zedu##_order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TABLE gt_stat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status.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zedu##_order INTO TABLE gt_top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 TO 3 ROWS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quantity DESCENDING.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75320" y="1188720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494776" y="131673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94776" y="1664208"/>
            <a:ext cx="2990088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 BY 하지 않은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필드는 SELECT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둘 수 없습니다.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 TO n ROWS +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 BY로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"상위 N건".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 BY에 집계함수를 직접 쓸 수 없다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위험 패턴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FBEBE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89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집계함수를 직접 정렬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a~cust_id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 * 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a~cust_id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COUNT( * 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DESCENDING.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classic에서 집계함수 정렬은 막힘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EAF3E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389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별칭(AS) 후 별칭으로 정렬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84708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a~cust_id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 * ) AS order_cnt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a~cust_id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order_cnt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DESCENDING.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37960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목록에서 AS 별칭 → 그 별칭으로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0233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D12 패턴 — COUNT( * ) AS order_cnt 로 별칭을 붙이고 ORDER BY order_cnt. 동률 순서가 중요하면 보조 정렬 추가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막힘 · FOR ALL ENTRIES 함정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70408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/ 해결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필드명을 별칭 없이 작성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a~ / b~ / c~ 별칭을 붙임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CORRESPONDING인데 결과 필드명이 다름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라인 타입 필드명을 SELECT와 일치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집계하지 않은 필드를 GROUP BY에서 누락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 목록의 비집계 필드는 모두 GROUP BY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 TO · ORDER BY 위치 오타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INTO TABLE → UP TO → ORDER BY 순서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234440"/>
            <a:ext cx="3931920" cy="3017520"/>
          </a:xfrm>
          <a:prstGeom prst="roundRect">
            <a:avLst>
              <a:gd name="adj" fmla="val 2727"/>
            </a:avLst>
          </a:prstGeom>
          <a:solidFill>
            <a:srgbClr val="FBEBE9"/>
          </a:solidFill>
          <a:ln/>
        </p:spPr>
      </p:sp>
      <p:sp>
        <p:nvSpPr>
          <p:cNvPr id="8" name="Text 5"/>
          <p:cNvSpPr/>
          <p:nvPr/>
        </p:nvSpPr>
        <p:spPr>
          <a:xfrm>
            <a:off x="7991856" y="1362456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FOR ALL ENTRIES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91856" y="1709928"/>
            <a:ext cx="349300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"내부 테이블과 조인" 패턴.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 JOIN만큼 자주 봅니다.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테이블이 비어 있으면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조회가 터지는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유명한 함정 —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IS NOT INITIAL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확인이 필수.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(소개만, 실습 안 함)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모던 ABAP으로는 이렇게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참고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229600" cy="2834640"/>
          </a:xfrm>
          <a:prstGeom prst="roundRect">
            <a:avLst>
              <a:gd name="adj" fmla="val 2258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624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구문은 같고 콤마 · @ · 인라인만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73352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a~order_id, b~cust_name, c~prod_name, a~quantity, c~price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zedu##_order AS a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INNER JOIN zedu_cust AS b ON a~cust_id = b~cust_id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INNER JOIN zedu_prod AS c ON a~prod_id = c~prod_id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a~status = 'N'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TABLE @DATA(lt_list).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구문 자체는 동일 — 콤마 / @ / 인라인 선언만 얹으면 new Open SQL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Q12 — 주문 통계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406640" cy="2834640"/>
          </a:xfrm>
          <a:prstGeom prst="roundRect">
            <a:avLst>
              <a:gd name="adj" fmla="val 2258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ZEDU##_U12Q — TODO 2개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1: 고객별 주문 건수를 GROUP BY로 조회해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cust_id와 건수를 출력하세요.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2: 주문+제품 JOIN으로 수량 TOP 5를 조회해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주문번호/제품명/수량을 출력 (ORDER BY + UP TO)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92440" y="118872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FDF3E3"/>
          </a:solidFill>
          <a:ln/>
        </p:spPr>
      </p:sp>
      <p:sp>
        <p:nvSpPr>
          <p:cNvPr id="10" name="Text 8"/>
          <p:cNvSpPr/>
          <p:nvPr/>
        </p:nvSpPr>
        <p:spPr>
          <a:xfrm>
            <a:off x="8311896" y="131673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11896" y="1664208"/>
            <a:ext cx="317296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D12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(고객명 포함 건수 TOP 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별칭 정렬 응용)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어려웠다면 E12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부록 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429768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N은 UP TO + ORDER BY — 정렬 기준이 집계값이면 별칭(AS)으로!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14:20 ~ 15:10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선택화면 PARAMETERS / SELECT-OPTIONS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PARAMETERS와 SELECT-OPTIONS로 선택화면을 만들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 연산자로 범위 조건을 SELECT에 반영할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ZEDU##_U13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사용자가 입력하게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조건은 코드에 박혀 있었습니다(WHERE status = 'N'). 실행할 때 사용자가 입력하게 만드는 것이 선택화면.</a:t>
            </a:r>
            <a:endParaRPr lang="en-US" sz="13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014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70332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모습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PARAMETERS p_x TYPE 타입.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입력칸 1개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SELECT-OPTIONS s_x FOR 참조필드.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입력칸 2개(From~To) + 복수선택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범위·복수 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200400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" y="332841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SELECT-OPTIONS의 정체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22376" y="3675888"/>
            <a:ext cx="10762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 / OPTION / LOW / HIGH 4개 필드를 가진 작은 내부 테이블입니다. WHERE 필드 IN s_x 가 그걸 해석합니다. — 그래서 코드에서 s_x[] 로 테이블 전체에 접근할 수 있습니다.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— 선택화면과 IN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589520" cy="3200400"/>
          </a:xfrm>
          <a:prstGeom prst="roundRect">
            <a:avLst>
              <a:gd name="adj" fmla="val 2000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선택화면 선언 + WHERE ... 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7132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PARAMETERS: p_stat TYPE zedu##_status.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SELECT-OPTIONS: s_ordid FOR gs_order-order_id,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s_date  FOR gs_order-order_date.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START-OF-SELECTION.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 FROM zedu##_order INTO TABLE gt_order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order_id   IN s_ordid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order_date IN s_date.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75320" y="118872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494776" y="131673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PARAMETERS는 IN 불가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94776" y="1664208"/>
            <a:ext cx="299008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SELECT-OPTIONS는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 ... IN.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PARAMETERS는 IN을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쓰므로, 입력된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경우에만 필터: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p_stat IS NOT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INITIAL. → DELETE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텍스트 붙이기 · 실행 관찰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6309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= 텍스트 심볼. Goto → Text Elements → Selection Texts</a:t>
            </a:r>
            <a:endParaRPr lang="en-US" sz="130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P_STAT 상태 / S_DATE 주문일 / S_ORDID 주문번호 입력 → 활성화 → 실행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다 비우고 실행 → 20건 전부 (빈 SELECT-OPTIONS = 조건 없음)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주문번호 From 1 To 5 → 구간 조회 · 화살표 버튼 → 복수/제외 값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칸에서 F4 → 도메인 고정값(N/C/X) 목록이 공짜! (어제 U06의 보상)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95160" y="1188720"/>
            <a:ext cx="4709160" cy="402336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178040" y="1188720"/>
            <a:ext cx="4343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D2-01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주문번호 복수선택 팝업 — 포함/제외 탭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텍스트 라벨(상태·주문일·주문번호)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DEFAULT · OBLIGATORY · 자주 막힘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6766560" cy="1051560"/>
          </a:xfrm>
          <a:prstGeom prst="roundRect">
            <a:avLst>
              <a:gd name="adj" fmla="val 6087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— 기본값·필수 입력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 p_stat TYPE zedu##_status DEFAULT 'N' OBLIGATORY.</a:t>
            </a:r>
            <a:endParaRPr lang="en-US" sz="1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2014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2636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/ 해결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 뒤에 타입명을 직접 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SELECT-OPTIONS는 참조 필드가 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SELECT-OPTIONS에 = 사용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 을 사용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PARAMETERS를 WHERE에 바로 넣어 0건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입력된 경우에만 필터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Selection Texts 저장 후 활성화 누락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뒤 반드시 활성화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Q13 — 고객 조건 추가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ZEDU##_U13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에 이어서 작성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1: 고객ID SELECT-OPTIONS s_cust 를 추가하고 WHERE에 반영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2: Selection Text(고객 ID)도 추가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3: C00001 과 C00003 두 고객만 조회되도록 복수 값을 입력해 실행</a:t>
            </a:r>
            <a:endParaRPr lang="en-US" sz="145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화살표 버튼으로 Single Value 두 줄 입력 — 코드가 아니라 화면 조작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635240" y="1645920"/>
            <a:ext cx="4069080" cy="2743200"/>
          </a:xfrm>
          <a:prstGeom prst="roundRect">
            <a:avLst>
              <a:gd name="adj" fmla="val 3000"/>
            </a:avLst>
          </a:prstGeom>
          <a:solidFill>
            <a:srgbClr val="FDF3E3"/>
          </a:solidFill>
          <a:ln/>
        </p:spPr>
      </p:sp>
      <p:sp>
        <p:nvSpPr>
          <p:cNvPr id="9" name="Text 7"/>
          <p:cNvSpPr/>
          <p:nvPr/>
        </p:nvSpPr>
        <p:spPr>
          <a:xfrm>
            <a:off x="7854696" y="1773936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54696" y="2121408"/>
            <a:ext cx="363016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D13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(수량 하한 + 상태 조건)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어려웠다면 E13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부록 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7091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47091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3은 코드가 아니라 화살표 버튼(복수 선택) 조작 — IN 하나로 단일·범위·복수·제외를 다 처리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 — 조회의 재료가 모였다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</a:t>
            </a:r>
            <a:endParaRPr lang="en-US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715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배운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다음에 쓰는 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테이블 (U09·U10)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SELECT의 그릇 · 가공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SQL · JOIN · 집계 (U11·U12)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DB에서 데이터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선택화면 · IN (U13)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조건 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리포트 이벤트 (U14) · ALV (U15)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실행할지 · 어떻게 보여줄지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0233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0233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지금까지의 재료가 오후 종합실습 ZEDU##_LIST 한 프로그램으로 조립됩니다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15:25 ~ 16:05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이벤트 흐름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프로그램의 이벤트 실행 순서를 이해한다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INITIALIZATION에서 기본값을, AT SELECTION-SCREEN에서 검증을 구현한다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ZEDU##_U14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실행 순서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프로그램은 위에서 아래로 그냥 흐르지 않습니다. 정해진 시점에 정해진 이벤트 블록이 실행됩니다.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810512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INITIALIZATION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239572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선택화면 전 1회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세팅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05456" y="20574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16352" y="169164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6E7797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810512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[선택화면 표시]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39572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18888" y="20574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29784" y="169164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239512" y="1810512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 SELECTION-SCREEN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39512" y="239572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F8 누를 때마다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 검증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32320" y="20574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43216" y="169164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2E7D46"/>
          </a:solidFill>
          <a:ln/>
        </p:spPr>
      </p:sp>
      <p:sp>
        <p:nvSpPr>
          <p:cNvPr id="20" name="Text 18"/>
          <p:cNvSpPr/>
          <p:nvPr/>
        </p:nvSpPr>
        <p:spPr>
          <a:xfrm>
            <a:off x="7552944" y="1810512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START-OF-SELECTION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52944" y="239572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처리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조회·가공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445752" y="20574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756648" y="169164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866376" y="1810512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END-OF-SELECTION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66376" y="239572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목록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42900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" y="342900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 SELECTION-SCREEN에서 검증 실패(MESSAGE E) → 선택화면으로 되돌아갑니다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41605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블록은 코드에 적힌 순서와 무관하게 정해진 시점에 불립니다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START-OF-SELECTION. 이라고 쓰는 순간부터가 그 이벤트의 코드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— INITIALIZATION 기본값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589520" cy="3977640"/>
          </a:xfrm>
          <a:prstGeom prst="roundRect">
            <a:avLst>
              <a:gd name="adj" fmla="val 1609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선택화면 전 1회: 최근 90일 세팅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7132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INITIALIZATION.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CLEAR s_date.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s_date-sign   = 'I'.    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Include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s_date-option = 'BT'.   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BeTween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s_date-low    = sy-datum - 90.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s_date-high   = sy-datum.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APPEND s_date.          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SELECT-OPTIONS도 내부 테이블!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START-OF-SELECTION.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COUNT( * ) FROM zedu##_order INTO gv_cnt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order_date IN s_date.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75320" y="1188720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494776" y="131673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APPEND?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94776" y="1664208"/>
            <a:ext cx="2990088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s_date는 SIGN/OPTION/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LOW/HIGH를 가진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테이블.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행을 채운 뒤 반드시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APPEND해야 화면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기본값이 됩니다.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 누락이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막힘.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 SELECTION-SCREEN — E 메시지의 위치별 행동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589520" cy="2880360"/>
          </a:xfrm>
          <a:prstGeom prst="roundRect">
            <a:avLst>
              <a:gd name="adj" fmla="val 2222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누를 때마다: 입력값 검증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7132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SELECTION-SCREEN.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p_cust IS NOT INITIAL.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SINGLE cust_id FROM zedu_cust INTO gv_check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 cust_id = p_cust.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sy-subrc &lt;&gt; 0.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 '존재하지 않는 고객입니다' TYPE 'E'.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ENDIF.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ENDIF.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75320" y="118872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FBEBE9"/>
          </a:solidFill>
          <a:ln/>
        </p:spPr>
      </p:sp>
      <p:sp>
        <p:nvSpPr>
          <p:cNvPr id="10" name="Text 8"/>
          <p:cNvSpPr/>
          <p:nvPr/>
        </p:nvSpPr>
        <p:spPr>
          <a:xfrm>
            <a:off x="8494776" y="131673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E의 위치별 행동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94776" y="1664208"/>
            <a:ext cx="2990088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선택화면의 E 메시지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빨간 메시지 +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선택화면에 그대로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머무름.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START-OF-SELECTION의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E는 동작이 다릅니다.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429768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선택화면 E = 화면에 머무름 — Day 3 오후 버튼 로직(수정·삭제 방어)의 밑바탕입니다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관찰 · 자주 막힘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선택화면에 날짜가 이미 채워져 있음 (INITIALIZATION) + 상태바에 S 메시지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 C99999 입력 → 실행 → 빨간 메시지 + 선택화면에 그대로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C00001로 바꾸면 통과 → 결과 목록</a:t>
            </a:r>
            <a:endParaRPr lang="en-US" sz="13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26080"/>
          <a:ext cx="1120140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532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자주 막힘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/ 해결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블록을 FORM처럼 호출하려 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이벤트는 시점에 자동 실행 (호출 아님)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START-OF-SELECTION의 E로 선택화면 복귀 기대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선택화면 복귀는 AT SELECTION-SCREEN의 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SELECT-OPTIONS 기본 행을 채우고 APPEND 누락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세팅 후 APPEND 필수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Q14 — 기간 필수 검증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ZEDU##_U14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에 추가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기간(s_date)을 모두 지우고 실행하면 "조회 기간을 입력하세요" E 메시지가 나오게 하세요.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6949440" cy="1371600"/>
          </a:xfrm>
          <a:prstGeom prst="roundRect">
            <a:avLst>
              <a:gd name="adj" fmla="val 4667"/>
            </a:avLst>
          </a:prstGeom>
          <a:solidFill>
            <a:srgbClr val="151B33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241401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" y="2724912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SELECT-OPTIONS의 테이블 전체는 s_date[] 로 접근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IF s_date[] IS INITIAL.  →  MESSAGE ... TYPE 'E'.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35240" y="2286000"/>
            <a:ext cx="4069080" cy="13716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7854696" y="2414016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이벤트에?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54696" y="2761488"/>
            <a:ext cx="3630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선택화면에 머물러야 하니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 SELECTION-SCREEN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11201400" cy="1005840"/>
          </a:xfrm>
          <a:prstGeom prst="roundRect">
            <a:avLst>
              <a:gd name="adj" fmla="val 8182"/>
            </a:avLst>
          </a:prstGeom>
          <a:solidFill>
            <a:srgbClr val="FDF3E3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405993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22376" y="4407408"/>
            <a:ext cx="10762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D14 (최근 30일 기본 범위) · 어려웠다면 E14 · 정답은 부록 A — 지금은 보지 않기!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16:15 ~ 17:15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ALV 출력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(준비) 서브루틴 FORM/PERFORM으로 코드를 정리한다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REUSE_ALV_GRID_DISPLAY로 내부 테이블을 ALV 그리드에 뿌린다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ZEDU##_U15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— FORM / PERFORM 서브루틴 (5분)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6400800" cy="2148840"/>
          </a:xfrm>
          <a:prstGeom prst="roundRect">
            <a:avLst>
              <a:gd name="adj" fmla="val 2979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로직에 이름을 붙여 상자에 담기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5943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START-OF-SELECTION.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PERFORM get_data.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호출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get_data.  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정의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ENDFORM.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86600" y="1188720"/>
            <a:ext cx="4617720" cy="2148840"/>
          </a:xfrm>
          <a:prstGeom prst="roundRect">
            <a:avLst>
              <a:gd name="adj" fmla="val 3830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7306056" y="1316736"/>
            <a:ext cx="4178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배우는 이유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06056" y="1664208"/>
            <a:ext cx="417880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잠시 후 ALV가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이름의 FORM을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호출해 줘" 방식(콜백)으로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동작하기 때문입니다.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(USING/CHANGING 파라미터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전달은 내일 필요할 때)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61188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길어지기 시작합니다 — FORM으로 로직에 이름을 붙여 정리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get_data(조회) / show_alv(출력)로 나누면 읽기 쉽고 재사용됩니다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ALV — 표준 목록 출력 도구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목록은 초라합니다. ALV(ABAP List Viewer) = SAP 표준 목록 출력 도구.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FDF3E3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77393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공짜로 따라오는 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2376" y="2121408"/>
            <a:ext cx="50474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▲▼ · 필터 · 합계(Σ)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엑셀 다운로드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고전 리포트의 사실상 표준 출력.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EEF3FB"/>
          </a:solidFill>
          <a:ln/>
        </p:spPr>
      </p:sp>
      <p:sp>
        <p:nvSpPr>
          <p:cNvPr id="11" name="Text 9"/>
          <p:cNvSpPr/>
          <p:nvPr/>
        </p:nvSpPr>
        <p:spPr>
          <a:xfrm>
            <a:off x="6437376" y="177393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방식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37376" y="2121408"/>
            <a:ext cx="50474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함수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REUSE_ALV_GRID_DISPLAY 를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호출해 씁니다.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호출 문법은 내일 정식으로 —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"정해진 서식"으로 따라 치기.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9776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DDIC에 정의를 쌓으면 화면이 공짜로 따라오는 것 — 이게 SAP 방식입니다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① — get_data (JOIN + 금액)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589520" cy="3977640"/>
          </a:xfrm>
          <a:prstGeom prst="roundRect">
            <a:avLst>
              <a:gd name="adj" fmla="val 1609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후 계산 필드(amount) 채우기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7132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get_data.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a~order_id a~cust_id b~cust_name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a~prod_id  c~prod_name c~price ...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INTO CORRESPONDING FIELDS OF TABLE gt_list.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LOOP AT gt_list INTO gs_list.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gs_list-amount = gs_list-quantity * gs_list-price.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MODIFY gt_list FROM gs_list TRANSPORTING amount.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ENDLOOP.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ENDFORM.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75320" y="1188720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494776" y="131673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필드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94776" y="1664208"/>
            <a:ext cx="2990088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= 수량 × 단가.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DB에 없는 계산 필드를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테이블에서 채웁니다.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MODIFY ... TRANSPORTING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amount = amount 필드만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후 MODIFY 누락이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막힘.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② — REUSE_ALV_GRID_DISPLAY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7772400" cy="4114800"/>
          </a:xfrm>
          <a:prstGeom prst="roundRect">
            <a:avLst>
              <a:gd name="adj" fmla="val 1556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271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함수 호출 (정해진 서식)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7315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FUNCTION 'REUSE_ALV_GRID_DISPLAY'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EXPORTING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i_callback_program = sy-repid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i_structure_name   = 'ZEDU##_S_LIST'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★ 컬럼 자동 구성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is_layout          = ls_layout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i_grid_title       = '주문 목록'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TABLES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t_outtab           = gt_list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EXCEPTIONS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program_error      = 1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OTHERS             = 2.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58200" y="1143000"/>
            <a:ext cx="3246120" cy="4114800"/>
          </a:xfrm>
          <a:prstGeom prst="roundRect">
            <a:avLst>
              <a:gd name="adj" fmla="val 2535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677656" y="1271016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TYPE-POOLS: slis.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77656" y="1618488"/>
            <a:ext cx="280720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ALV 타입 꾸러미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(관례적 선언).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ls_layout-zebra = 'X'.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colwidth_optimize = 'X'.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후 sy-subrc를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REUSE_ALV_GRID_DISPLAY 파라미터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5532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i_callback_program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sy-repid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콜백을 찾을 프로그램(나)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i_structure_name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'ZEDU##_S_LIST'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DDIC 스트럭처 → 컬럼 자동 구성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is_layout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ls_layout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zebra · 컬럼폭 최적화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i_grid_title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'주문 목록'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그리드 제목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t_outtab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gt_list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출력할 내부 테이블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16052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16052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i_structure_name 이 어제 DE에 넣은 한글 라벨을 필드 카탈로그(컬럼 구성)로 바꿔 줍니다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후 관찰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6309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 제목이 저절로 한글로! — 어제 데이터 엘리먼트에 넣은 라벨입니다</a:t>
            </a:r>
            <a:endParaRPr lang="en-US" sz="130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DDIC에 정의를 쌓으면 화면이 공짜로 따라옵니다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툴바: 정렬 ▲▼ · 필터 · 합계(Σ)는 AMOUNT 컬럼에 · 엑셀 내보내기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i_structure_name을 지우고 실행하면? → 오류 (컬럼 구성 정보가 없음)</a:t>
            </a:r>
            <a:endParaRPr lang="en-US" sz="130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구성법 = 필드 카탈로그 (추가 퀴즈집에서)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95160" y="1188720"/>
            <a:ext cx="4709160" cy="402336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178040" y="1188720"/>
            <a:ext cx="4343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D2-02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ALV 기본 화면 — 한글 컬럼 제목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AMOUNT 컬럼 합계(Σ) + 툴바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모던 ABAP — 객체지향 ALV (SALV)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참고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863840" cy="2148840"/>
          </a:xfrm>
          <a:prstGeom prst="roundRect">
            <a:avLst>
              <a:gd name="adj" fmla="val 2979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624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호출부는 세 줄 · 필드 카탈로그 불필요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73352"/>
            <a:ext cx="7406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lo_alv TYPE REF TO cl_salv_table.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cl_salv_table=&gt;factory( IMPORTING r_salv_table = lo_alv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CHANGING  t_table      = gt_list ).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lo_alv-&gt;display( 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기반 SALV — 필드 카탈로그가 필요 없습니다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완결 예제는 factory 예외를 TRY ... CATCH cx_salv_msg로 감싸 안전하게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 본문은 의도적으로 REUSE_ALV_GRID_DISPLAY (콜백 구조 학습용)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Q15 — ALV 꾸미기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ZEDU##_U15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복사(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ZEDU##_U15Q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)해서: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1: 제목을 '## 주문 현황판'으로 변경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2: 금액 큰 순서로 정렬된 상태로 표시</a:t>
            </a:r>
            <a:endParaRPr lang="en-US" sz="145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힌트: ALV 호출 전에 내부 테이블을 SORT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3: zebra를 꺼보고 차이 확인 후 다시 켜기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635240" y="1645920"/>
            <a:ext cx="4069080" cy="2743200"/>
          </a:xfrm>
          <a:prstGeom prst="roundRect">
            <a:avLst>
              <a:gd name="adj" fmla="val 3000"/>
            </a:avLst>
          </a:prstGeom>
          <a:solidFill>
            <a:srgbClr val="FDF3E3"/>
          </a:solidFill>
          <a:ln/>
        </p:spPr>
      </p:sp>
      <p:sp>
        <p:nvSpPr>
          <p:cNvPr id="9" name="Text 7"/>
          <p:cNvSpPr/>
          <p:nvPr/>
        </p:nvSpPr>
        <p:spPr>
          <a:xfrm>
            <a:off x="7854696" y="1773936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54696" y="2121408"/>
            <a:ext cx="363016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D15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(합계·소계 do_sum 등)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어려웠다면 E15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부록 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7091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47091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정렬은 ALV 호출 전에 SORT — ALV는 이미 정렬된 내부 테이블을 그대로 그립니다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종합실습 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17:15 ~ 18:00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리포트 완성 — ZEDU##_LIST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D9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결승선 — 선택화면 + 이벤트 + JOIN + ALV를 한 프로그램에 조립!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프로그램이 내일 Toy Project의 몸통이 됩니다 — 반드시 완성하고 퇴근!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종합실습②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ZEDU##_LIST — TODO 세 곳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실습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스켈레톤을 입력하고 FORM get_data의 TODO 3개를 완성하세요. (선택화면·INITIALIZATION·show_alv는 스켈레톤에 완성 제공)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11201400" cy="3291840"/>
          </a:xfrm>
          <a:prstGeom prst="roundRect">
            <a:avLst>
              <a:gd name="adj" fmla="val 1944"/>
            </a:avLst>
          </a:prstGeom>
          <a:solidFill>
            <a:srgbClr val="151B33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728216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get_data — TODO 3개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" y="2039112"/>
            <a:ext cx="10744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1: 3개 테이블(주문 a, 고객 b, 제품 c)을 INNER JOIN 해서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gt_list에 INTO CORRESPONDING FIELDS OF TABLE로 조회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WHERE: order_id / cust_id / order_date가 선택화면 조건(IN)을 따르게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2: p_stat이 입력된 경우 해당 상태만 남기세요. (U13에서 했던 방법)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3: gt_list를 LOOP 돌며 amount = quantity * price 를 채우세요.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(LOOP + MODIFY ... TRANSPORTING, U15에서 했던 것)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507492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507492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TODO는 get_data만 — TODO 1=U12 JOIN, TODO 2=U13 필터, TODO 3=U15 금액. 오늘 배운 것의 조립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종합실습②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판정 · 체크포인트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없이 실행 → 20건, 금액 계산되어 있음, 컬럼 제목 한글</a:t>
            </a:r>
            <a:endParaRPr lang="en-US" sz="130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20건이 모두 D-3~D-85라 기본 최근 90일 조건에 포함됨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C00001만 → 해당 고객 주문만 · 상태 N → 신규만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Selection Texts까지 붙이면 금상첨화 (주문번호/고객ID/주문일/상태)</a:t>
            </a:r>
            <a:endParaRPr lang="en-US" sz="13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188720"/>
          <a:ext cx="4617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63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후 15분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JOIN SELECT 활성, 기본 90일에서 20건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후 25분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필터 동작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후 35분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계산 · 정렬 완료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5분 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ALV 표시 및 ZEDU##_LIST 활성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416052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416052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체크포인트: 15분 JOIN·20건 → 25분 상태필터 → 35분 금액·정렬 → 종료 5분 전 ALV+활성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종합실습②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프로그램이 Day 3의 뼈대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1201400" cy="1234440"/>
          </a:xfrm>
          <a:prstGeom prst="roundRect">
            <a:avLst>
              <a:gd name="adj" fmla="val 6667"/>
            </a:avLst>
          </a:prstGeom>
          <a:solidFill>
            <a:srgbClr val="FDF3E3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31673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 체인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2376" y="1664208"/>
            <a:ext cx="107624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ZEDU##_LIST 는 Day 3에 LIST → U19 → MAIN 으로 복사됩니다. 조회 프로그램에 버튼(등록/수정/삭제)을 붙여 완성본이 됩니다. 미완성으로 퇴근하지 마세요!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 우선순위: ① 실행되는가 ② gt_list에 20건 ③ 금액 채워짐 ④ ALV 보임 ⑤ 선택 텍스트는 마지막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369417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 끝났다면 (부록 A 뒤 심화 도전)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22376" y="4041648"/>
            <a:ext cx="10762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AT SELECTION-SCREEN에서 존재하지 않는 고객 입력 시 E 메시지 (U14 응용)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get_data의 SELECT를 new Open SQL로 리팩터링한 get_data_new를 만들어 비교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조회 결과가 0건이면 ALV 대신 "조회 결과가 없습니다" 메시지 (IF gt_list IS INITIAL)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 — 완성했나요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2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89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만든 것 / 익힌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ZEDU##_U09 ~ U15 (+퀴즈)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ZEDU##_LIST — 선택화면+JOIN+금액+ALV 완성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테이블 vs DB 테이블 / sy-subrc 확인 습관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순서(INITIALIZATION→AT SELECTION-SCREEN→START-OF-SELECTION) / IN 연산자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16052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16052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ZEDU##_LIST가 미완성인 학생은 내일 09:00 전 기준본으로 복구 — Day 3 복사 체인의 출발점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예고 — 드디어 완성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EF3F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(FM)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450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로직을 함수로 (U16)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90672" y="1965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55848" y="14630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38728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DB에 쓰기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8728" y="2450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INSERT/UPDATE/DELETE (U17)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0" y="1965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08776" y="14630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EF3FB"/>
          </a:solidFill>
          <a:ln/>
        </p:spPr>
      </p:sp>
      <p:sp>
        <p:nvSpPr>
          <p:cNvPr id="17" name="Text 15"/>
          <p:cNvSpPr/>
          <p:nvPr/>
        </p:nvSpPr>
        <p:spPr>
          <a:xfrm>
            <a:off x="6391656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91656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달기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91656" y="2450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PF-STATUS + USER_COMMAND (U19)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96528" y="1965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061704" y="14630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244584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44584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44584" y="2450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등록/수정/삭제 → ZEDU##_MAIN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5661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35661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오후, 오늘 만든 ZEDU##_LIST가 버튼 달린 ZEDU##_MAIN으로 완성됩니다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4389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수고하셨습니다! 🎉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292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함수(FM) → DB에 쓰기(CRUD) → 버튼 달기 → 완성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ABAP 기초교육 — Day 2</dc:title>
  <dc:subject>PptxGenJS Presentation</dc:subject>
  <dc:creator>ABAP 기초교육</dc:creator>
  <cp:lastModifiedBy>ABAP 기초교육</cp:lastModifiedBy>
  <cp:revision>1</cp:revision>
  <dcterms:created xsi:type="dcterms:W3CDTF">2026-07-13T13:43:24Z</dcterms:created>
  <dcterms:modified xsi:type="dcterms:W3CDTF">2026-07-13T13:43:24Z</dcterms:modified>
</cp:coreProperties>
</file>